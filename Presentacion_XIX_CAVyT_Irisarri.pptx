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370"/>
    <a:srgbClr val="D40E25"/>
    <a:srgbClr val="182B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43" autoAdjust="0"/>
    <p:restoredTop sz="96327"/>
  </p:normalViewPr>
  <p:slideViewPr>
    <p:cSldViewPr snapToGrid="0" snapToObjects="1">
      <p:cViewPr>
        <p:scale>
          <a:sx n="100" d="100"/>
          <a:sy n="100" d="100"/>
        </p:scale>
        <p:origin x="-792" y="-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6662F0F-E23A-EA0C-A731-BC05E8CF2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108A0655-26BE-7325-00AB-54A85AC3E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26C4124E-CBC2-684E-574E-CFFB143C6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FA96-8E96-E640-A18F-43C2B4A82C87}" type="datetimeFigureOut">
              <a:rPr lang="es-AR" smtClean="0"/>
              <a:t>11/9/2026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D2439D77-AF65-C359-AB21-69F1396A1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15399272-CA5A-2BD0-26C4-99E5558C9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A7133-86C0-C643-8467-F3249E0FDF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376048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78CD5BF-956A-0390-A4C8-066B8A3F9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C9578D81-B83D-7E7B-C4E3-67379DC77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567393FB-AE86-C935-0C56-812588FA6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FA96-8E96-E640-A18F-43C2B4A82C87}" type="datetimeFigureOut">
              <a:rPr lang="es-AR" smtClean="0"/>
              <a:t>11/9/2026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34401D26-6E9F-B1CF-BFCB-F541DCAB2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68835149-CD25-29C6-E748-72F544D3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A7133-86C0-C643-8467-F3249E0FDF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4540507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1359672-38C3-E5B4-7D22-D26AF80A8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CC388A22-CE58-ADEF-2E9A-E2A29B9C5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4759E9E9-C337-A066-5858-480A329FF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FA96-8E96-E640-A18F-43C2B4A82C87}" type="datetimeFigureOut">
              <a:rPr lang="es-AR" smtClean="0"/>
              <a:t>11/9/2026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6D32D48E-C2B7-9D5C-FFFC-4004D01E2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213B89E2-B192-E2A4-B279-7E11463F3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A7133-86C0-C643-8467-F3249E0FDF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730151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6614FB7-0166-B058-4555-D31ED9FDD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0ADC4E14-8F0C-D755-37D4-E36A80EBAA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3B014664-0D98-7774-5A7A-F82B0DE30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45D6DD00-B7EC-A96C-4380-0FF94968F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FA96-8E96-E640-A18F-43C2B4A82C87}" type="datetimeFigureOut">
              <a:rPr lang="es-AR" smtClean="0"/>
              <a:t>11/9/2026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2FB0BAC8-3BF6-1C7B-7618-BB338E5F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62A77BAC-455B-FF26-74CD-79C224FF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A7133-86C0-C643-8467-F3249E0FDF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59520664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9EAD84D-518D-B26B-144E-73F00FBC7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64FA4686-CF29-CA01-B62D-823F17FF3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6EADC2F9-7558-C8B1-8BCD-4776EE5EB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="" xmlns:a16="http://schemas.microsoft.com/office/drawing/2014/main" id="{FFE0C1C0-C2AE-58FC-CF66-1CD3E082A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="" xmlns:a16="http://schemas.microsoft.com/office/drawing/2014/main" id="{5EA23B1B-BA18-0209-CBFA-086C76C5F4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="" xmlns:a16="http://schemas.microsoft.com/office/drawing/2014/main" id="{31D064BE-F064-65F9-A981-6493172AD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FA96-8E96-E640-A18F-43C2B4A82C87}" type="datetimeFigureOut">
              <a:rPr lang="es-AR" smtClean="0"/>
              <a:t>11/9/2026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="" xmlns:a16="http://schemas.microsoft.com/office/drawing/2014/main" id="{19F8B0FE-59BC-B776-95CE-63854C6D5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="" xmlns:a16="http://schemas.microsoft.com/office/drawing/2014/main" id="{83C7E566-77BE-0273-6075-EC10604A1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A7133-86C0-C643-8467-F3249E0FDF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5678014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5A1D78C-FA77-5151-306E-2EE8C192F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3489F267-67CD-FFFE-5059-73E65CEF1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FA96-8E96-E640-A18F-43C2B4A82C87}" type="datetimeFigureOut">
              <a:rPr lang="es-AR" smtClean="0"/>
              <a:t>11/9/2026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9A645A8F-9809-8D87-BA37-DC72D125C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B57B1087-7DCE-C62C-48A0-67A99631C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A7133-86C0-C643-8467-F3249E0FDF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18577361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="" xmlns:a16="http://schemas.microsoft.com/office/drawing/2014/main" id="{1C98F3DA-4C1B-76FD-A4AD-2F05D906E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FA96-8E96-E640-A18F-43C2B4A82C87}" type="datetimeFigureOut">
              <a:rPr lang="es-AR" smtClean="0"/>
              <a:t>11/9/2026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="" xmlns:a16="http://schemas.microsoft.com/office/drawing/2014/main" id="{60E75E93-D45E-63E7-20FD-E85D93042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D06832F7-DDE2-4388-B013-09DF69AB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A7133-86C0-C643-8467-F3249E0FDF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8860558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58FFBC1-6B8B-3650-F0EE-7866F0408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C4569CAC-A216-FFC2-2B4B-9F079F72D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38CECCD9-A1F3-50FD-101B-531EFFAF9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F49DAE8B-AEFB-2B12-0762-CFC26931A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FA96-8E96-E640-A18F-43C2B4A82C87}" type="datetimeFigureOut">
              <a:rPr lang="es-AR" smtClean="0"/>
              <a:t>11/9/2026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ED5AA50D-71E2-B855-DA99-C28A6E430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BDB53EC2-4675-28AB-9E20-B525DED8C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A7133-86C0-C643-8467-F3249E0FDF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18715048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32CD34C-6218-15F6-ED82-9263C55DD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="" xmlns:a16="http://schemas.microsoft.com/office/drawing/2014/main" id="{A2BCCFE2-ACB2-7C67-05B2-4F877C9B6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9E93F37E-3961-4B7B-00DC-A9324BE6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00953196-B356-F9D7-861C-CF6EA58BF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FA96-8E96-E640-A18F-43C2B4A82C87}" type="datetimeFigureOut">
              <a:rPr lang="es-AR" smtClean="0"/>
              <a:t>11/9/2026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F74C226B-45FB-2AC0-16A6-B9A726FC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15E6D100-4CB2-8619-D523-2C56819DF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A7133-86C0-C643-8467-F3249E0FDF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27239678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F04554F-A156-1B92-2EF8-BADF0A00E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94FD371C-87DF-6260-7288-56DD20ECB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EB063994-8BFB-20F2-757A-2B58C5F96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FA96-8E96-E640-A18F-43C2B4A82C87}" type="datetimeFigureOut">
              <a:rPr lang="es-AR" smtClean="0"/>
              <a:t>11/9/2026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8866E910-7BCA-347E-B1D5-135AE0967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70BFEBF8-A963-ED16-0B0A-6B649C1D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A7133-86C0-C643-8467-F3249E0FDF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0197938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AACCD156-7623-3D76-DF45-BD71010788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141CD646-522D-73DF-0A62-7B89BF502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DD0EF57E-B85C-5A76-076D-0840DCA10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FA96-8E96-E640-A18F-43C2B4A82C87}" type="datetimeFigureOut">
              <a:rPr lang="es-AR" smtClean="0"/>
              <a:t>11/9/2026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928CE5A9-429D-3A53-930B-11CFB1F19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6310E959-889E-13CD-8474-046D11845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A7133-86C0-C643-8467-F3249E0FDF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9542726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="" xmlns:a16="http://schemas.microsoft.com/office/drawing/2014/main" id="{A390BE4E-15DB-A327-EF0C-7495A20C8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707536C1-602C-5A10-B30B-3CA32EA27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24FEB792-F3C7-9397-926B-093E12160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2FA96-8E96-E640-A18F-43C2B4A82C87}" type="datetimeFigureOut">
              <a:rPr lang="es-AR" smtClean="0"/>
              <a:t>11/9/2026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525BF344-CC61-6FE0-8B83-FEBAAE4383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2642593E-D6F8-16A8-E91D-3F900903CF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A7133-86C0-C643-8467-F3249E0FDF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2635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NUL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hyperlink" Target="https://malenairisarri.shinyapps.io/siniestralidad_vial_rosario2024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maleirisarri@gmail.com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="" xmlns:a16="http://schemas.microsoft.com/office/drawing/2014/main" id="{DE7DF10F-E4E6-AF5F-B338-C0A65133A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0209DAF6-FF0A-9A9D-7379-A713F2E70777}"/>
              </a:ext>
            </a:extLst>
          </p:cNvPr>
          <p:cNvSpPr txBox="1"/>
          <p:nvPr/>
        </p:nvSpPr>
        <p:spPr>
          <a:xfrm>
            <a:off x="1459955" y="3309731"/>
            <a:ext cx="927209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200" b="1" dirty="0" smtClean="0">
                <a:solidFill>
                  <a:srgbClr val="D40E25"/>
                </a:solidFill>
                <a:latin typeface="Gotham Medium" pitchFamily="2" charset="0"/>
                <a:cs typeface="Gotham Medium" pitchFamily="2" charset="0"/>
              </a:rPr>
              <a:t>Indicadores y Visualizaciones para</a:t>
            </a:r>
            <a:br>
              <a:rPr lang="es-ES" sz="3200" b="1" dirty="0" smtClean="0">
                <a:solidFill>
                  <a:srgbClr val="D40E25"/>
                </a:solidFill>
                <a:latin typeface="Gotham Medium" pitchFamily="2" charset="0"/>
                <a:cs typeface="Gotham Medium" pitchFamily="2" charset="0"/>
              </a:rPr>
            </a:br>
            <a:r>
              <a:rPr lang="es-ES" sz="3200" b="1" dirty="0" smtClean="0">
                <a:solidFill>
                  <a:srgbClr val="D40E25"/>
                </a:solidFill>
                <a:latin typeface="Gotham Medium" pitchFamily="2" charset="0"/>
                <a:cs typeface="Gotham Medium" pitchFamily="2" charset="0"/>
              </a:rPr>
              <a:t>Jerarquizar Intersecciones Críticas en Rosario</a:t>
            </a:r>
          </a:p>
          <a:p>
            <a:pPr algn="ctr"/>
            <a:endParaRPr lang="es-AR" sz="3200" b="1" dirty="0">
              <a:solidFill>
                <a:srgbClr val="D40E25"/>
              </a:solidFill>
              <a:latin typeface="Gotham Medium" pitchFamily="2" charset="0"/>
              <a:cs typeface="Gotham Medium" pitchFamily="2" charset="0"/>
            </a:endParaRPr>
          </a:p>
          <a:p>
            <a:pPr algn="ctr"/>
            <a:r>
              <a:rPr lang="es-AR" sz="2400" dirty="0" smtClean="0">
                <a:latin typeface="Gotham Medium" pitchFamily="2" charset="0"/>
                <a:cs typeface="Gotham Medium" pitchFamily="2" charset="0"/>
              </a:rPr>
              <a:t>Lic. Malena </a:t>
            </a:r>
            <a:r>
              <a:rPr lang="es-AR" sz="2400" dirty="0" err="1" smtClean="0">
                <a:latin typeface="Gotham Medium" pitchFamily="2" charset="0"/>
                <a:cs typeface="Gotham Medium" pitchFamily="2" charset="0"/>
              </a:rPr>
              <a:t>Irisarri</a:t>
            </a:r>
            <a:endParaRPr lang="es-AR" sz="2400" dirty="0">
              <a:latin typeface="Gotham Medium" pitchFamily="2" charset="0"/>
              <a:cs typeface="Gotham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9848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="" xmlns:a16="http://schemas.microsoft.com/office/drawing/2014/main" id="{48051C4E-A246-9B4E-D593-21C3D257E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1 Rectángulo"/>
          <p:cNvSpPr/>
          <p:nvPr/>
        </p:nvSpPr>
        <p:spPr>
          <a:xfrm>
            <a:off x="392060" y="1399492"/>
            <a:ext cx="1013130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000" b="1" dirty="0">
                <a:solidFill>
                  <a:srgbClr val="132A4D"/>
                </a:solidFill>
                <a:latin typeface="Gotham Medium"/>
                <a:ea typeface="Cambria" pitchFamily="34" charset="-122"/>
                <a:cs typeface="Cambria" pitchFamily="34" charset="-120"/>
              </a:rPr>
              <a:t>Siniestros viales: un problema global de salud pública</a:t>
            </a:r>
            <a:endParaRPr lang="en-US" sz="3000" b="1" dirty="0">
              <a:solidFill>
                <a:srgbClr val="132A4D"/>
              </a:solidFill>
              <a:latin typeface="Gotham Medium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4" name="Shape 3"/>
          <p:cNvSpPr/>
          <p:nvPr/>
        </p:nvSpPr>
        <p:spPr>
          <a:xfrm>
            <a:off x="457200" y="2319689"/>
            <a:ext cx="3152274" cy="2218622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>
            <a:solidFill>
              <a:srgbClr val="1D4370"/>
            </a:solidFill>
          </a:ln>
        </p:spPr>
      </p:sp>
      <p:sp>
        <p:nvSpPr>
          <p:cNvPr id="5" name="Text 4"/>
          <p:cNvSpPr/>
          <p:nvPr/>
        </p:nvSpPr>
        <p:spPr>
          <a:xfrm>
            <a:off x="594359" y="2444817"/>
            <a:ext cx="28569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D4370"/>
                </a:solidFill>
                <a:latin typeface="Aptos"/>
                <a:ea typeface="Calibri" pitchFamily="34" charset="-122"/>
                <a:cs typeface="Calibri" pitchFamily="34" charset="-120"/>
              </a:rPr>
              <a:t>1,19 </a:t>
            </a:r>
            <a:r>
              <a:rPr lang="en-US" sz="2700" b="1" dirty="0" err="1">
                <a:solidFill>
                  <a:srgbClr val="1D4370"/>
                </a:solidFill>
                <a:latin typeface="Aptos"/>
                <a:ea typeface="Calibri" pitchFamily="34" charset="-122"/>
                <a:cs typeface="Calibri" pitchFamily="34" charset="-120"/>
              </a:rPr>
              <a:t>millones</a:t>
            </a:r>
            <a:endParaRPr lang="en-US" sz="2700" b="1" dirty="0">
              <a:solidFill>
                <a:srgbClr val="1D4370"/>
              </a:solidFill>
              <a:latin typeface="Aptos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5"/>
          <p:cNvSpPr/>
          <p:nvPr/>
        </p:nvSpPr>
        <p:spPr>
          <a:xfrm>
            <a:off x="594360" y="3103344"/>
            <a:ext cx="3015114" cy="1394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s-ES" sz="2000" dirty="0">
                <a:solidFill>
                  <a:srgbClr val="545C65"/>
                </a:solidFill>
                <a:latin typeface="Aptos"/>
              </a:rPr>
              <a:t>personas fallecen cada año en el mundo como consecuencia de siniestros de tránsito.</a:t>
            </a:r>
          </a:p>
        </p:txBody>
      </p:sp>
      <p:sp>
        <p:nvSpPr>
          <p:cNvPr id="8" name="Shape 7"/>
          <p:cNvSpPr/>
          <p:nvPr/>
        </p:nvSpPr>
        <p:spPr>
          <a:xfrm>
            <a:off x="8614611" y="2319688"/>
            <a:ext cx="3145448" cy="2218623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>
            <a:solidFill>
              <a:srgbClr val="1D4370"/>
            </a:solidFill>
          </a:ln>
        </p:spPr>
      </p:sp>
      <p:sp>
        <p:nvSpPr>
          <p:cNvPr id="11" name="Text 10"/>
          <p:cNvSpPr/>
          <p:nvPr/>
        </p:nvSpPr>
        <p:spPr>
          <a:xfrm>
            <a:off x="7585510" y="3197592"/>
            <a:ext cx="11895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D4370"/>
                </a:solidFill>
                <a:latin typeface="Aptos"/>
                <a:ea typeface="Arial" pitchFamily="34" charset="-122"/>
                <a:cs typeface="Arial" pitchFamily="34" charset="-120"/>
              </a:rPr>
              <a:t>→</a:t>
            </a:r>
            <a:endParaRPr lang="en-US" sz="6000" dirty="0">
              <a:solidFill>
                <a:srgbClr val="1D4370"/>
              </a:solidFill>
              <a:latin typeface="Aptos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4588041" y="2318884"/>
            <a:ext cx="3145448" cy="2211404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>
            <a:solidFill>
              <a:srgbClr val="1D4370"/>
            </a:solidFill>
          </a:ln>
        </p:spPr>
      </p:sp>
      <p:sp>
        <p:nvSpPr>
          <p:cNvPr id="13" name="Text 12"/>
          <p:cNvSpPr/>
          <p:nvPr/>
        </p:nvSpPr>
        <p:spPr>
          <a:xfrm>
            <a:off x="8775032" y="2444163"/>
            <a:ext cx="2985027" cy="71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700" b="1" dirty="0" smtClean="0">
                <a:solidFill>
                  <a:srgbClr val="1D4370"/>
                </a:solidFill>
                <a:latin typeface="Aptos"/>
                <a:ea typeface="Calibri" pitchFamily="34" charset="-122"/>
                <a:cs typeface="Calibri" pitchFamily="34" charset="-120"/>
              </a:rPr>
              <a:t>4.027 </a:t>
            </a:r>
            <a:r>
              <a:rPr lang="en-US" sz="2700" b="1" dirty="0" err="1" smtClean="0">
                <a:solidFill>
                  <a:srgbClr val="1D4370"/>
                </a:solidFill>
                <a:latin typeface="Aptos"/>
                <a:ea typeface="Calibri" pitchFamily="34" charset="-122"/>
                <a:cs typeface="Calibri" pitchFamily="34" charset="-120"/>
              </a:rPr>
              <a:t>víctimas</a:t>
            </a:r>
            <a:r>
              <a:rPr lang="en-US" sz="2700" b="1" dirty="0" smtClean="0">
                <a:solidFill>
                  <a:srgbClr val="1D4370"/>
                </a:solidFill>
                <a:latin typeface="Aptos"/>
                <a:ea typeface="Calibri" pitchFamily="34" charset="-122"/>
                <a:cs typeface="Calibri" pitchFamily="34" charset="-120"/>
              </a:rPr>
              <a:t> fatales</a:t>
            </a:r>
            <a:endParaRPr lang="en-US" sz="2700" dirty="0">
              <a:solidFill>
                <a:srgbClr val="1D4370"/>
              </a:solidFill>
              <a:latin typeface="Aptos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8775031" y="3051207"/>
            <a:ext cx="2856689" cy="1207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endParaRPr lang="es-ES" sz="2000" dirty="0" smtClean="0">
              <a:solidFill>
                <a:srgbClr val="545C65"/>
              </a:solidFill>
              <a:latin typeface="Aptos"/>
            </a:endParaRPr>
          </a:p>
          <a:p>
            <a:pPr algn="ctr">
              <a:lnSpc>
                <a:spcPct val="115000"/>
              </a:lnSpc>
            </a:pPr>
            <a:r>
              <a:rPr lang="es-ES" sz="2000" dirty="0" smtClean="0">
                <a:solidFill>
                  <a:srgbClr val="545C65"/>
                </a:solidFill>
                <a:latin typeface="Aptos"/>
              </a:rPr>
              <a:t>se </a:t>
            </a:r>
            <a:r>
              <a:rPr lang="es-ES" sz="2000" dirty="0">
                <a:solidFill>
                  <a:srgbClr val="545C65"/>
                </a:solidFill>
                <a:latin typeface="Aptos"/>
              </a:rPr>
              <a:t>registraron en Argentina durante 2024.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</p:txBody>
      </p:sp>
      <p:sp>
        <p:nvSpPr>
          <p:cNvPr id="10" name="Text 9"/>
          <p:cNvSpPr/>
          <p:nvPr/>
        </p:nvSpPr>
        <p:spPr>
          <a:xfrm>
            <a:off x="4588041" y="3139841"/>
            <a:ext cx="3145448" cy="1334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s-ES" sz="2000" dirty="0">
                <a:solidFill>
                  <a:srgbClr val="545C65"/>
                </a:solidFill>
                <a:latin typeface="Aptos"/>
              </a:rPr>
              <a:t>de personas sufren lesiones no fatales anualmente a nivel mundial.</a:t>
            </a:r>
          </a:p>
        </p:txBody>
      </p:sp>
      <p:sp>
        <p:nvSpPr>
          <p:cNvPr id="9" name="Text 8"/>
          <p:cNvSpPr/>
          <p:nvPr/>
        </p:nvSpPr>
        <p:spPr>
          <a:xfrm>
            <a:off x="4748463" y="2444163"/>
            <a:ext cx="283704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sz="2700" b="1" dirty="0">
                <a:solidFill>
                  <a:srgbClr val="1D4370"/>
                </a:solidFill>
                <a:latin typeface="Aptos"/>
                <a:ea typeface="Calibri" pitchFamily="34" charset="-122"/>
                <a:cs typeface="Calibri" pitchFamily="34" charset="-120"/>
              </a:rPr>
              <a:t>20 a 50 </a:t>
            </a:r>
            <a:r>
              <a:rPr lang="en-US" sz="2700" b="1" dirty="0" err="1">
                <a:solidFill>
                  <a:srgbClr val="1D4370"/>
                </a:solidFill>
                <a:latin typeface="Aptos"/>
                <a:ea typeface="Calibri" pitchFamily="34" charset="-122"/>
                <a:cs typeface="Calibri" pitchFamily="34" charset="-120"/>
              </a:rPr>
              <a:t>millones</a:t>
            </a:r>
            <a:endParaRPr lang="en-US" sz="2700" b="1" dirty="0">
              <a:solidFill>
                <a:srgbClr val="1D4370"/>
              </a:solidFill>
              <a:latin typeface="Aptos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3526857" y="3188769"/>
            <a:ext cx="11895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D4370"/>
                </a:solidFill>
                <a:latin typeface="Aptos"/>
                <a:ea typeface="Arial" pitchFamily="34" charset="-122"/>
                <a:cs typeface="Arial" pitchFamily="34" charset="-120"/>
              </a:rPr>
              <a:t>→</a:t>
            </a:r>
            <a:endParaRPr lang="en-US" sz="6000" dirty="0">
              <a:solidFill>
                <a:srgbClr val="1D4370"/>
              </a:solidFill>
              <a:latin typeface="Aptos"/>
            </a:endParaRPr>
          </a:p>
        </p:txBody>
      </p:sp>
      <p:sp>
        <p:nvSpPr>
          <p:cNvPr id="16" name="TextBox 33"/>
          <p:cNvSpPr txBox="1"/>
          <p:nvPr/>
        </p:nvSpPr>
        <p:spPr>
          <a:xfrm>
            <a:off x="11155680" y="6537960"/>
            <a:ext cx="457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sz="900" b="0" i="0" dirty="0" smtClean="0">
                <a:solidFill>
                  <a:srgbClr val="545C65"/>
                </a:solidFill>
                <a:latin typeface="Aptos"/>
              </a:rPr>
              <a:t>1</a:t>
            </a:r>
            <a:endParaRPr sz="900" b="0" i="0" dirty="0">
              <a:solidFill>
                <a:srgbClr val="545C6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0169648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="" xmlns:a16="http://schemas.microsoft.com/office/drawing/2014/main" id="{48051C4E-A246-9B4E-D593-21C3D257E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2"/>
          <p:cNvSpPr txBox="1"/>
          <p:nvPr/>
        </p:nvSpPr>
        <p:spPr>
          <a:xfrm>
            <a:off x="566928" y="1255616"/>
            <a:ext cx="1024128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s-ES" sz="3000" b="1" dirty="0" smtClean="0">
                <a:solidFill>
                  <a:srgbClr val="1B3A5E"/>
                </a:solidFill>
                <a:latin typeface="Gotham Medium"/>
              </a:rPr>
              <a:t>Si sabemos que los recursos son limitados </a:t>
            </a:r>
            <a:r>
              <a:rPr sz="3000" b="1" dirty="0" smtClean="0">
                <a:solidFill>
                  <a:srgbClr val="1B3A5E"/>
                </a:solidFill>
                <a:latin typeface="Gotham Medium"/>
              </a:rPr>
              <a:t>¿</a:t>
            </a:r>
            <a:r>
              <a:rPr sz="3000" b="1" dirty="0" err="1" smtClean="0">
                <a:solidFill>
                  <a:srgbClr val="1B3A5E"/>
                </a:solidFill>
                <a:latin typeface="Gotham Medium"/>
              </a:rPr>
              <a:t>dónde</a:t>
            </a:r>
            <a:r>
              <a:rPr lang="es-ES" sz="3000" b="1" dirty="0" smtClean="0">
                <a:solidFill>
                  <a:srgbClr val="1B3A5E"/>
                </a:solidFill>
                <a:latin typeface="Gotham Medium"/>
              </a:rPr>
              <a:t> conviene</a:t>
            </a:r>
            <a:r>
              <a:rPr sz="3000" b="1" dirty="0" smtClean="0">
                <a:solidFill>
                  <a:srgbClr val="1B3A5E"/>
                </a:solidFill>
                <a:latin typeface="Gotham Medium"/>
              </a:rPr>
              <a:t> </a:t>
            </a:r>
            <a:r>
              <a:rPr sz="3000" b="1" dirty="0" err="1">
                <a:solidFill>
                  <a:srgbClr val="1B3A5E"/>
                </a:solidFill>
                <a:latin typeface="Gotham Medium"/>
              </a:rPr>
              <a:t>intervenir</a:t>
            </a:r>
            <a:r>
              <a:rPr sz="3000" b="1" dirty="0">
                <a:solidFill>
                  <a:srgbClr val="1B3A5E"/>
                </a:solidFill>
                <a:latin typeface="Gotham Medium"/>
              </a:rPr>
              <a:t> </a:t>
            </a:r>
            <a:r>
              <a:rPr sz="3000" b="1" dirty="0" err="1">
                <a:solidFill>
                  <a:srgbClr val="1B3A5E"/>
                </a:solidFill>
                <a:latin typeface="Gotham Medium"/>
              </a:rPr>
              <a:t>primero</a:t>
            </a:r>
            <a:r>
              <a:rPr sz="3000" b="1" dirty="0">
                <a:solidFill>
                  <a:srgbClr val="1B3A5E"/>
                </a:solidFill>
                <a:latin typeface="Gotham Medium"/>
              </a:rPr>
              <a:t>?</a:t>
            </a:r>
          </a:p>
        </p:txBody>
      </p:sp>
      <p:sp>
        <p:nvSpPr>
          <p:cNvPr id="18" name="TextBox 2"/>
          <p:cNvSpPr txBox="1"/>
          <p:nvPr/>
        </p:nvSpPr>
        <p:spPr>
          <a:xfrm>
            <a:off x="4575207" y="2500112"/>
            <a:ext cx="7315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s-ES" sz="2700" dirty="0" smtClean="0">
                <a:latin typeface="Gotham Medium"/>
              </a:rPr>
              <a:t>Una primera respuesta podría ser:</a:t>
            </a:r>
            <a:endParaRPr sz="2700" dirty="0">
              <a:latin typeface="Gotham Medium"/>
            </a:endParaRPr>
          </a:p>
        </p:txBody>
      </p:sp>
      <p:sp>
        <p:nvSpPr>
          <p:cNvPr id="19" name="Rounded Rectangle 8"/>
          <p:cNvSpPr/>
          <p:nvPr/>
        </p:nvSpPr>
        <p:spPr>
          <a:xfrm>
            <a:off x="5078527" y="3653539"/>
            <a:ext cx="6314173" cy="884863"/>
          </a:xfrm>
          <a:prstGeom prst="roundRect">
            <a:avLst/>
          </a:prstGeom>
          <a:solidFill>
            <a:srgbClr val="F6E9EA"/>
          </a:solidFill>
          <a:ln>
            <a:solidFill>
              <a:srgbClr val="D40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 smtClean="0">
                <a:solidFill>
                  <a:srgbClr val="BE2B32"/>
                </a:solidFill>
                <a:latin typeface="Gotham Medium"/>
              </a:rPr>
              <a:t>Donde ocurran más siniestros</a:t>
            </a:r>
            <a:endParaRPr sz="2800" b="1" dirty="0">
              <a:solidFill>
                <a:srgbClr val="BE2B32"/>
              </a:solidFill>
              <a:latin typeface="Gotham Medium"/>
            </a:endParaRPr>
          </a:p>
        </p:txBody>
      </p:sp>
      <p:sp>
        <p:nvSpPr>
          <p:cNvPr id="20" name="Text 10"/>
          <p:cNvSpPr/>
          <p:nvPr/>
        </p:nvSpPr>
        <p:spPr>
          <a:xfrm rot="5400000">
            <a:off x="7640852" y="3165367"/>
            <a:ext cx="11895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0E25"/>
                </a:solidFill>
                <a:latin typeface="Aptos"/>
                <a:ea typeface="Arial" pitchFamily="34" charset="-122"/>
                <a:cs typeface="Arial" pitchFamily="34" charset="-120"/>
              </a:rPr>
              <a:t>→</a:t>
            </a:r>
            <a:endParaRPr lang="en-US" sz="4000" dirty="0">
              <a:solidFill>
                <a:srgbClr val="D40E25"/>
              </a:solidFill>
              <a:latin typeface="Aptos"/>
            </a:endParaRPr>
          </a:p>
        </p:txBody>
      </p:sp>
      <p:sp>
        <p:nvSpPr>
          <p:cNvPr id="21" name="TextBox 2"/>
          <p:cNvSpPr txBox="1"/>
          <p:nvPr/>
        </p:nvSpPr>
        <p:spPr>
          <a:xfrm>
            <a:off x="975360" y="5354374"/>
            <a:ext cx="102412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s-ES" sz="3600" b="1" dirty="0" smtClean="0">
                <a:solidFill>
                  <a:srgbClr val="1B3A5E"/>
                </a:solidFill>
                <a:latin typeface="Gotham Medium"/>
              </a:rPr>
              <a:t>PERO, ¿ES SUFICIENTE?</a:t>
            </a:r>
            <a:endParaRPr sz="3600" b="1" dirty="0">
              <a:solidFill>
                <a:srgbClr val="1B3A5E"/>
              </a:solidFill>
              <a:latin typeface="Gotham Medium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973" y="2367202"/>
            <a:ext cx="25527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33"/>
          <p:cNvSpPr txBox="1"/>
          <p:nvPr/>
        </p:nvSpPr>
        <p:spPr>
          <a:xfrm>
            <a:off x="11155680" y="6537960"/>
            <a:ext cx="457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sz="900" b="0" i="0" dirty="0" smtClean="0">
                <a:solidFill>
                  <a:srgbClr val="545C65"/>
                </a:solidFill>
                <a:latin typeface="Aptos"/>
              </a:rPr>
              <a:t>2</a:t>
            </a:r>
            <a:endParaRPr sz="900" b="0" i="0" dirty="0">
              <a:solidFill>
                <a:srgbClr val="545C6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105387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="" xmlns:a16="http://schemas.microsoft.com/office/drawing/2014/main" id="{48051C4E-A246-9B4E-D593-21C3D257E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ounded Rectangle 8"/>
          <p:cNvSpPr/>
          <p:nvPr/>
        </p:nvSpPr>
        <p:spPr>
          <a:xfrm>
            <a:off x="2678030" y="1668379"/>
            <a:ext cx="2120363" cy="759212"/>
          </a:xfrm>
          <a:prstGeom prst="roundRect">
            <a:avLst/>
          </a:prstGeom>
          <a:solidFill>
            <a:srgbClr val="F6E9EA"/>
          </a:solidFill>
          <a:ln>
            <a:solidFill>
              <a:srgbClr val="D40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 smtClean="0">
                <a:solidFill>
                  <a:srgbClr val="BE2B32"/>
                </a:solidFill>
                <a:latin typeface="Gotham Medium"/>
              </a:rPr>
              <a:t>Esquina A</a:t>
            </a:r>
            <a:endParaRPr sz="2800" b="1" dirty="0">
              <a:solidFill>
                <a:srgbClr val="BE2B32"/>
              </a:solidFill>
              <a:latin typeface="Gotham Medium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906" y="1433622"/>
            <a:ext cx="1409700" cy="122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ounded Rectangle 8"/>
          <p:cNvSpPr/>
          <p:nvPr/>
        </p:nvSpPr>
        <p:spPr>
          <a:xfrm>
            <a:off x="8645385" y="1668378"/>
            <a:ext cx="2120363" cy="759212"/>
          </a:xfrm>
          <a:prstGeom prst="roundRect">
            <a:avLst/>
          </a:prstGeom>
          <a:solidFill>
            <a:srgbClr val="EFF3F7"/>
          </a:solidFill>
          <a:ln>
            <a:solidFill>
              <a:srgbClr val="1D4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rgbClr val="1D4370"/>
                </a:solidFill>
                <a:latin typeface="Gotham Medium"/>
              </a:rPr>
              <a:t>Esquina B</a:t>
            </a:r>
            <a:endParaRPr sz="2800" b="1" dirty="0">
              <a:solidFill>
                <a:srgbClr val="1D4370"/>
              </a:solidFill>
              <a:latin typeface="Gotham Medium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8459" y="1481247"/>
            <a:ext cx="1352550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 5"/>
          <p:cNvSpPr/>
          <p:nvPr/>
        </p:nvSpPr>
        <p:spPr>
          <a:xfrm>
            <a:off x="1106905" y="2731571"/>
            <a:ext cx="3691487" cy="81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s-ES" dirty="0" smtClean="0">
                <a:solidFill>
                  <a:srgbClr val="545C65"/>
                </a:solidFill>
                <a:latin typeface="Gotham Medium"/>
              </a:rPr>
              <a:t>100 siniestros en un año</a:t>
            </a:r>
          </a:p>
          <a:p>
            <a:pPr algn="ctr">
              <a:lnSpc>
                <a:spcPct val="115000"/>
              </a:lnSpc>
            </a:pPr>
            <a:r>
              <a:rPr lang="es-ES" dirty="0" smtClean="0">
                <a:solidFill>
                  <a:srgbClr val="545C65"/>
                </a:solidFill>
                <a:latin typeface="Gotham Medium"/>
              </a:rPr>
              <a:t>100.000 vehículos</a:t>
            </a:r>
            <a:endParaRPr lang="es-ES" dirty="0">
              <a:solidFill>
                <a:srgbClr val="545C65"/>
              </a:solidFill>
              <a:latin typeface="Gotham Medium"/>
            </a:endParaRPr>
          </a:p>
        </p:txBody>
      </p:sp>
      <p:sp>
        <p:nvSpPr>
          <p:cNvPr id="9" name="Text 5"/>
          <p:cNvSpPr/>
          <p:nvPr/>
        </p:nvSpPr>
        <p:spPr>
          <a:xfrm>
            <a:off x="7089707" y="2731571"/>
            <a:ext cx="3691487" cy="81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s-ES" dirty="0">
                <a:solidFill>
                  <a:srgbClr val="545C65"/>
                </a:solidFill>
                <a:latin typeface="Gotham Medium"/>
              </a:rPr>
              <a:t>6</a:t>
            </a:r>
            <a:r>
              <a:rPr lang="es-ES" dirty="0" smtClean="0">
                <a:solidFill>
                  <a:srgbClr val="545C65"/>
                </a:solidFill>
                <a:latin typeface="Gotham Medium"/>
              </a:rPr>
              <a:t>0 siniestros en un año</a:t>
            </a:r>
          </a:p>
          <a:p>
            <a:pPr algn="ctr">
              <a:lnSpc>
                <a:spcPct val="115000"/>
              </a:lnSpc>
            </a:pPr>
            <a:r>
              <a:rPr lang="es-ES" dirty="0" smtClean="0">
                <a:solidFill>
                  <a:srgbClr val="545C65"/>
                </a:solidFill>
                <a:latin typeface="Gotham Medium"/>
              </a:rPr>
              <a:t>10.000 vehículos</a:t>
            </a:r>
            <a:endParaRPr lang="es-ES" dirty="0">
              <a:solidFill>
                <a:srgbClr val="545C65"/>
              </a:solidFill>
              <a:latin typeface="Gotham Medium"/>
            </a:endParaRPr>
          </a:p>
        </p:txBody>
      </p:sp>
      <p:sp>
        <p:nvSpPr>
          <p:cNvPr id="10" name="Text 5"/>
          <p:cNvSpPr/>
          <p:nvPr/>
        </p:nvSpPr>
        <p:spPr>
          <a:xfrm>
            <a:off x="1167864" y="3544866"/>
            <a:ext cx="3691487" cy="81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s-ES" dirty="0" smtClean="0">
                <a:solidFill>
                  <a:srgbClr val="D40E25"/>
                </a:solidFill>
                <a:latin typeface="Gotham Medium"/>
              </a:rPr>
              <a:t>1 siniestro cada 10.000 vehículos</a:t>
            </a:r>
            <a:endParaRPr lang="es-ES" dirty="0">
              <a:solidFill>
                <a:srgbClr val="D40E25"/>
              </a:solidFill>
              <a:latin typeface="Gotham Medium"/>
            </a:endParaRPr>
          </a:p>
        </p:txBody>
      </p:sp>
      <p:sp>
        <p:nvSpPr>
          <p:cNvPr id="12" name="Text 5"/>
          <p:cNvSpPr/>
          <p:nvPr/>
        </p:nvSpPr>
        <p:spPr>
          <a:xfrm>
            <a:off x="7191660" y="3544865"/>
            <a:ext cx="3691487" cy="81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s-ES" dirty="0">
                <a:solidFill>
                  <a:srgbClr val="1D4370"/>
                </a:solidFill>
                <a:latin typeface="Gotham Medium"/>
              </a:rPr>
              <a:t>6</a:t>
            </a:r>
            <a:r>
              <a:rPr lang="es-ES" dirty="0" smtClean="0">
                <a:solidFill>
                  <a:srgbClr val="1D4370"/>
                </a:solidFill>
                <a:latin typeface="Gotham Medium"/>
              </a:rPr>
              <a:t> siniestros cada 10.000 vehículos</a:t>
            </a:r>
            <a:endParaRPr lang="es-ES" dirty="0">
              <a:solidFill>
                <a:srgbClr val="1D4370"/>
              </a:solidFill>
              <a:latin typeface="Gotham Medium"/>
            </a:endParaRPr>
          </a:p>
        </p:txBody>
      </p:sp>
      <p:cxnSp>
        <p:nvCxnSpPr>
          <p:cNvPr id="15" name="14 Conector recto"/>
          <p:cNvCxnSpPr/>
          <p:nvPr/>
        </p:nvCxnSpPr>
        <p:spPr>
          <a:xfrm>
            <a:off x="1030778" y="4495800"/>
            <a:ext cx="10083338" cy="0"/>
          </a:xfrm>
          <a:prstGeom prst="line">
            <a:avLst/>
          </a:prstGeom>
          <a:ln>
            <a:solidFill>
              <a:srgbClr val="1D43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928" y="4649105"/>
            <a:ext cx="9317038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33"/>
          <p:cNvSpPr txBox="1"/>
          <p:nvPr/>
        </p:nvSpPr>
        <p:spPr>
          <a:xfrm>
            <a:off x="11155680" y="6537960"/>
            <a:ext cx="457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sz="900" b="0" i="0" dirty="0" smtClean="0">
                <a:solidFill>
                  <a:srgbClr val="545C65"/>
                </a:solidFill>
                <a:latin typeface="Aptos"/>
              </a:rPr>
              <a:t>3</a:t>
            </a:r>
            <a:endParaRPr sz="900" b="0" i="0" dirty="0">
              <a:solidFill>
                <a:srgbClr val="545C6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440764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="" xmlns:a16="http://schemas.microsoft.com/office/drawing/2014/main" id="{48051C4E-A246-9B4E-D593-21C3D257E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3"/>
          <p:cNvSpPr/>
          <p:nvPr/>
        </p:nvSpPr>
        <p:spPr>
          <a:xfrm>
            <a:off x="448056" y="2108122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132A4D"/>
          </a:solidFill>
          <a:ln/>
        </p:spPr>
      </p:sp>
      <p:sp>
        <p:nvSpPr>
          <p:cNvPr id="5" name="Text 4"/>
          <p:cNvSpPr/>
          <p:nvPr/>
        </p:nvSpPr>
        <p:spPr>
          <a:xfrm>
            <a:off x="768096" y="227271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chemeClr val="bg1"/>
                </a:solidFill>
                <a:latin typeface="Gotham Medium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600" dirty="0">
              <a:solidFill>
                <a:schemeClr val="bg1"/>
              </a:solidFill>
              <a:latin typeface="Gotham Medium"/>
            </a:endParaRPr>
          </a:p>
        </p:txBody>
      </p:sp>
      <p:sp>
        <p:nvSpPr>
          <p:cNvPr id="6" name="Text 5"/>
          <p:cNvSpPr/>
          <p:nvPr/>
        </p:nvSpPr>
        <p:spPr>
          <a:xfrm>
            <a:off x="768096" y="261104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Gotham Medium"/>
                <a:ea typeface="Cambria" pitchFamily="34" charset="-122"/>
                <a:cs typeface="Cambria" pitchFamily="34" charset="-120"/>
              </a:rPr>
              <a:t>Identificar y jerarquizar las intersecciones con mayor peligrosidad vial de la ciudad de Rosario durante el año 2024.</a:t>
            </a:r>
            <a:endParaRPr lang="en-US" dirty="0">
              <a:latin typeface="Gotham Medium"/>
            </a:endParaRPr>
          </a:p>
        </p:txBody>
      </p:sp>
      <p:sp>
        <p:nvSpPr>
          <p:cNvPr id="7" name="Shape 6"/>
          <p:cNvSpPr/>
          <p:nvPr/>
        </p:nvSpPr>
        <p:spPr>
          <a:xfrm>
            <a:off x="448056" y="3891202"/>
            <a:ext cx="3630168" cy="2286000"/>
          </a:xfrm>
          <a:prstGeom prst="roundRect">
            <a:avLst>
              <a:gd name="adj" fmla="val 3600"/>
            </a:avLst>
          </a:prstGeom>
          <a:solidFill>
            <a:srgbClr val="EEF3FA"/>
          </a:solidFill>
          <a:ln/>
        </p:spPr>
      </p:sp>
      <p:sp>
        <p:nvSpPr>
          <p:cNvPr id="8" name="Shape 7"/>
          <p:cNvSpPr/>
          <p:nvPr/>
        </p:nvSpPr>
        <p:spPr>
          <a:xfrm>
            <a:off x="704088" y="4119802"/>
            <a:ext cx="502920" cy="502920"/>
          </a:xfrm>
          <a:prstGeom prst="ellipse">
            <a:avLst/>
          </a:prstGeom>
          <a:solidFill>
            <a:srgbClr val="D40E25"/>
          </a:solidFill>
          <a:ln/>
        </p:spPr>
      </p:sp>
      <p:sp>
        <p:nvSpPr>
          <p:cNvPr id="9" name="Text 8"/>
          <p:cNvSpPr/>
          <p:nvPr/>
        </p:nvSpPr>
        <p:spPr>
          <a:xfrm>
            <a:off x="704088" y="411980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9"/>
          <p:cNvSpPr/>
          <p:nvPr/>
        </p:nvSpPr>
        <p:spPr>
          <a:xfrm>
            <a:off x="704088" y="480560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Gotham Medium"/>
                <a:ea typeface="Calibri" pitchFamily="34" charset="-122"/>
                <a:cs typeface="Calibri" pitchFamily="34" charset="-120"/>
              </a:rPr>
              <a:t>Georreferenciar</a:t>
            </a:r>
            <a:endParaRPr lang="en-US" sz="1400" dirty="0">
              <a:latin typeface="Gotham Medium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704088" y="517136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2"/>
                </a:solidFill>
                <a:latin typeface="Gotham Medium"/>
                <a:ea typeface="Calibri" pitchFamily="34" charset="-122"/>
                <a:cs typeface="Calibri" pitchFamily="34" charset="-120"/>
              </a:rPr>
              <a:t>las ubicaciones de los siniestros viales ocurridos en la ciudad de Rosario.</a:t>
            </a:r>
            <a:endParaRPr lang="en-US" sz="1200" dirty="0">
              <a:latin typeface="Gotham Medium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4261104" y="3891202"/>
            <a:ext cx="3630168" cy="2286000"/>
          </a:xfrm>
          <a:prstGeom prst="roundRect">
            <a:avLst>
              <a:gd name="adj" fmla="val 3600"/>
            </a:avLst>
          </a:prstGeom>
          <a:solidFill>
            <a:srgbClr val="EEF3FA"/>
          </a:solidFill>
          <a:ln/>
        </p:spPr>
      </p:sp>
      <p:sp>
        <p:nvSpPr>
          <p:cNvPr id="13" name="Shape 12"/>
          <p:cNvSpPr/>
          <p:nvPr/>
        </p:nvSpPr>
        <p:spPr>
          <a:xfrm>
            <a:off x="4517136" y="4119802"/>
            <a:ext cx="502920" cy="502920"/>
          </a:xfrm>
          <a:prstGeom prst="ellipse">
            <a:avLst/>
          </a:prstGeom>
          <a:solidFill>
            <a:srgbClr val="D40E25"/>
          </a:solidFill>
          <a:ln/>
        </p:spPr>
      </p:sp>
      <p:sp>
        <p:nvSpPr>
          <p:cNvPr id="14" name="Text 14"/>
          <p:cNvSpPr/>
          <p:nvPr/>
        </p:nvSpPr>
        <p:spPr>
          <a:xfrm>
            <a:off x="4517136" y="480560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Gotham Medium"/>
                <a:ea typeface="Calibri" pitchFamily="34" charset="-122"/>
                <a:cs typeface="Calibri" pitchFamily="34" charset="-120"/>
              </a:rPr>
              <a:t>Detectar</a:t>
            </a:r>
            <a:endParaRPr lang="en-US" sz="1400" dirty="0">
              <a:latin typeface="Gotham Medium"/>
            </a:endParaRPr>
          </a:p>
        </p:txBody>
      </p:sp>
      <p:sp>
        <p:nvSpPr>
          <p:cNvPr id="15" name="Text 15"/>
          <p:cNvSpPr/>
          <p:nvPr/>
        </p:nvSpPr>
        <p:spPr>
          <a:xfrm>
            <a:off x="4517136" y="517136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2"/>
                </a:solidFill>
                <a:latin typeface="Gotham Medium"/>
                <a:ea typeface="Calibri" pitchFamily="34" charset="-122"/>
                <a:cs typeface="Calibri" pitchFamily="34" charset="-120"/>
              </a:rPr>
              <a:t>zonas de alta concentración de siniestros en el territorio urbano.</a:t>
            </a:r>
            <a:endParaRPr lang="en-US" sz="1200" dirty="0">
              <a:latin typeface="Gotham Medium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8074152" y="3891202"/>
            <a:ext cx="3630168" cy="2286000"/>
          </a:xfrm>
          <a:prstGeom prst="roundRect">
            <a:avLst>
              <a:gd name="adj" fmla="val 3600"/>
            </a:avLst>
          </a:prstGeom>
          <a:solidFill>
            <a:srgbClr val="EEF3FA"/>
          </a:solidFill>
          <a:ln/>
        </p:spPr>
      </p:sp>
      <p:sp>
        <p:nvSpPr>
          <p:cNvPr id="17" name="Shape 17"/>
          <p:cNvSpPr/>
          <p:nvPr/>
        </p:nvSpPr>
        <p:spPr>
          <a:xfrm>
            <a:off x="8330184" y="4119802"/>
            <a:ext cx="502920" cy="502920"/>
          </a:xfrm>
          <a:prstGeom prst="ellipse">
            <a:avLst/>
          </a:prstGeom>
          <a:solidFill>
            <a:srgbClr val="D40E25"/>
          </a:solidFill>
          <a:ln/>
        </p:spPr>
      </p:sp>
      <p:sp>
        <p:nvSpPr>
          <p:cNvPr id="18" name="Text 19"/>
          <p:cNvSpPr/>
          <p:nvPr/>
        </p:nvSpPr>
        <p:spPr>
          <a:xfrm>
            <a:off x="8330184" y="480560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Gotham Medium"/>
                <a:ea typeface="Calibri" pitchFamily="34" charset="-122"/>
                <a:cs typeface="Calibri" pitchFamily="34" charset="-120"/>
              </a:rPr>
              <a:t>Evaluar y jerarquizar</a:t>
            </a:r>
            <a:endParaRPr lang="en-US" sz="1400" dirty="0">
              <a:latin typeface="Gotham Medium"/>
            </a:endParaRPr>
          </a:p>
        </p:txBody>
      </p:sp>
      <p:sp>
        <p:nvSpPr>
          <p:cNvPr id="19" name="Text 20"/>
          <p:cNvSpPr/>
          <p:nvPr/>
        </p:nvSpPr>
        <p:spPr>
          <a:xfrm>
            <a:off x="8330184" y="517136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1B2432"/>
                </a:solidFill>
                <a:latin typeface="Gotham Medium"/>
                <a:ea typeface="Calibri" pitchFamily="34" charset="-122"/>
                <a:cs typeface="Calibri" pitchFamily="34" charset="-120"/>
              </a:rPr>
              <a:t>las intersecciones según su nivel de peligrosidad relativa.</a:t>
            </a:r>
          </a:p>
        </p:txBody>
      </p:sp>
      <p:sp>
        <p:nvSpPr>
          <p:cNvPr id="20" name="Text 8"/>
          <p:cNvSpPr/>
          <p:nvPr/>
        </p:nvSpPr>
        <p:spPr>
          <a:xfrm>
            <a:off x="4517136" y="411980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1800" dirty="0"/>
          </a:p>
        </p:txBody>
      </p:sp>
      <p:sp>
        <p:nvSpPr>
          <p:cNvPr id="21" name="Text 8"/>
          <p:cNvSpPr/>
          <p:nvPr/>
        </p:nvSpPr>
        <p:spPr>
          <a:xfrm>
            <a:off x="8330184" y="411980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1800" dirty="0"/>
          </a:p>
        </p:txBody>
      </p:sp>
      <p:sp>
        <p:nvSpPr>
          <p:cNvPr id="22" name="21 Rectángulo"/>
          <p:cNvSpPr/>
          <p:nvPr/>
        </p:nvSpPr>
        <p:spPr>
          <a:xfrm>
            <a:off x="392060" y="1399492"/>
            <a:ext cx="193835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000" b="1" dirty="0" smtClean="0">
                <a:solidFill>
                  <a:srgbClr val="132A4D"/>
                </a:solidFill>
                <a:latin typeface="Gotham Medium"/>
                <a:ea typeface="Cambria" pitchFamily="34" charset="-122"/>
                <a:cs typeface="Cambria" pitchFamily="34" charset="-120"/>
              </a:rPr>
              <a:t>Objetivos</a:t>
            </a:r>
            <a:endParaRPr lang="en-US" sz="3000" b="1" dirty="0">
              <a:solidFill>
                <a:srgbClr val="132A4D"/>
              </a:solidFill>
              <a:latin typeface="Gotham Medium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25" name="24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4" t="1049" r="76059" b="77622"/>
          <a:stretch/>
        </p:blipFill>
        <p:spPr>
          <a:xfrm>
            <a:off x="3001107" y="3969744"/>
            <a:ext cx="1082018" cy="774000"/>
          </a:xfrm>
          <a:prstGeom prst="rect">
            <a:avLst/>
          </a:prstGeom>
        </p:spPr>
      </p:pic>
      <p:pic>
        <p:nvPicPr>
          <p:cNvPr id="26" name="25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17" t="1981" r="56400" b="76923"/>
          <a:stretch/>
        </p:blipFill>
        <p:spPr>
          <a:xfrm>
            <a:off x="6854406" y="3979359"/>
            <a:ext cx="962155" cy="774000"/>
          </a:xfrm>
          <a:prstGeom prst="rect">
            <a:avLst/>
          </a:prstGeom>
        </p:spPr>
      </p:pic>
      <p:pic>
        <p:nvPicPr>
          <p:cNvPr id="27" name="26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51" r="32742" b="79130"/>
          <a:stretch/>
        </p:blipFill>
        <p:spPr>
          <a:xfrm>
            <a:off x="10519508" y="3969744"/>
            <a:ext cx="1112922" cy="774000"/>
          </a:xfrm>
          <a:prstGeom prst="rect">
            <a:avLst/>
          </a:prstGeom>
        </p:spPr>
      </p:pic>
      <p:sp>
        <p:nvSpPr>
          <p:cNvPr id="28" name="TextBox 33"/>
          <p:cNvSpPr txBox="1"/>
          <p:nvPr/>
        </p:nvSpPr>
        <p:spPr>
          <a:xfrm>
            <a:off x="11155680" y="6537960"/>
            <a:ext cx="457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sz="900" b="0" i="0" dirty="0" smtClean="0">
                <a:solidFill>
                  <a:srgbClr val="545C65"/>
                </a:solidFill>
                <a:latin typeface="Aptos"/>
              </a:rPr>
              <a:t>4</a:t>
            </a:r>
            <a:endParaRPr sz="900" b="0" i="0" dirty="0">
              <a:solidFill>
                <a:srgbClr val="545C6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080749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="" xmlns:a16="http://schemas.microsoft.com/office/drawing/2014/main" id="{48051C4E-A246-9B4E-D593-21C3D257E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20 Rectángulo"/>
          <p:cNvSpPr/>
          <p:nvPr/>
        </p:nvSpPr>
        <p:spPr>
          <a:xfrm>
            <a:off x="392060" y="1313523"/>
            <a:ext cx="452559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000" b="1" dirty="0" smtClean="0">
                <a:solidFill>
                  <a:srgbClr val="132A4D"/>
                </a:solidFill>
                <a:latin typeface="Gotham Medium"/>
                <a:ea typeface="Cambria" pitchFamily="34" charset="-122"/>
                <a:cs typeface="Cambria" pitchFamily="34" charset="-120"/>
              </a:rPr>
              <a:t>Fuentes de información</a:t>
            </a:r>
            <a:endParaRPr lang="en-US" sz="3000" b="1" dirty="0">
              <a:solidFill>
                <a:srgbClr val="132A4D"/>
              </a:solidFill>
              <a:latin typeface="Gotham Medium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457200" y="1965960"/>
            <a:ext cx="2176272" cy="3566160"/>
          </a:xfrm>
          <a:prstGeom prst="roundRect">
            <a:avLst>
              <a:gd name="adj" fmla="val 3782"/>
            </a:avLst>
          </a:prstGeom>
          <a:solidFill>
            <a:srgbClr val="132A4D"/>
          </a:solidFill>
          <a:ln/>
        </p:spPr>
      </p:sp>
      <p:sp>
        <p:nvSpPr>
          <p:cNvPr id="23" name="Shape 4"/>
          <p:cNvSpPr/>
          <p:nvPr/>
        </p:nvSpPr>
        <p:spPr>
          <a:xfrm>
            <a:off x="621792" y="2194560"/>
            <a:ext cx="1847088" cy="18288"/>
          </a:xfrm>
          <a:prstGeom prst="roundRect">
            <a:avLst/>
          </a:prstGeom>
          <a:solidFill>
            <a:srgbClr val="D40E25"/>
          </a:solidFill>
          <a:ln/>
        </p:spPr>
      </p:sp>
      <p:sp>
        <p:nvSpPr>
          <p:cNvPr id="24" name="Text 5"/>
          <p:cNvSpPr/>
          <p:nvPr/>
        </p:nvSpPr>
        <p:spPr>
          <a:xfrm>
            <a:off x="621792" y="233172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otham Medium"/>
                <a:ea typeface="Cambria" pitchFamily="34" charset="-122"/>
                <a:cs typeface="Cambria" pitchFamily="34" charset="-120"/>
              </a:rPr>
              <a:t>SIES</a:t>
            </a:r>
            <a:endParaRPr lang="en-US" sz="1500" dirty="0">
              <a:latin typeface="Gotham Medium"/>
            </a:endParaRPr>
          </a:p>
        </p:txBody>
      </p:sp>
      <p:sp>
        <p:nvSpPr>
          <p:cNvPr id="25" name="Text 6"/>
          <p:cNvSpPr/>
          <p:nvPr/>
        </p:nvSpPr>
        <p:spPr>
          <a:xfrm>
            <a:off x="621792" y="324612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40E25"/>
                </a:solidFill>
                <a:latin typeface="Gotham Medium"/>
                <a:ea typeface="Cambria" pitchFamily="34" charset="-122"/>
                <a:cs typeface="Cambria" pitchFamily="34" charset="-120"/>
              </a:rPr>
              <a:t>8.318 registros</a:t>
            </a:r>
            <a:endParaRPr lang="en-US" sz="1900" dirty="0">
              <a:solidFill>
                <a:srgbClr val="D40E25"/>
              </a:solidFill>
              <a:latin typeface="Gotham Medium"/>
            </a:endParaRPr>
          </a:p>
        </p:txBody>
      </p:sp>
      <p:sp>
        <p:nvSpPr>
          <p:cNvPr id="26" name="Text 7"/>
          <p:cNvSpPr/>
          <p:nvPr/>
        </p:nvSpPr>
        <p:spPr>
          <a:xfrm>
            <a:off x="538843" y="3872865"/>
            <a:ext cx="20002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100" dirty="0" smtClean="0">
              <a:solidFill>
                <a:srgbClr val="D8E4F3"/>
              </a:solidFill>
              <a:latin typeface="Gotham Medium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100" dirty="0">
              <a:solidFill>
                <a:srgbClr val="D8E4F3"/>
              </a:solidFill>
              <a:latin typeface="Gotham Medium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100" dirty="0" smtClean="0">
              <a:solidFill>
                <a:srgbClr val="D8E4F3"/>
              </a:solidFill>
              <a:latin typeface="Gotham Medium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100" dirty="0">
              <a:solidFill>
                <a:srgbClr val="D8E4F3"/>
              </a:solidFill>
              <a:latin typeface="Gotham Medium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100" dirty="0" smtClean="0">
              <a:solidFill>
                <a:srgbClr val="D8E4F3"/>
              </a:solidFill>
              <a:latin typeface="Gotham Medium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100" dirty="0">
              <a:solidFill>
                <a:srgbClr val="D8E4F3"/>
              </a:solidFill>
              <a:latin typeface="Gotham Medium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 err="1" smtClean="0">
                <a:solidFill>
                  <a:srgbClr val="D8E4F3"/>
                </a:solidFill>
                <a:latin typeface="Gotham Medium"/>
                <a:ea typeface="Calibri" pitchFamily="34" charset="-122"/>
                <a:cs typeface="Calibri" pitchFamily="34" charset="-120"/>
              </a:rPr>
              <a:t>Siniestros</a:t>
            </a:r>
            <a:r>
              <a:rPr lang="en-US" sz="1100" dirty="0" smtClean="0">
                <a:solidFill>
                  <a:srgbClr val="D8E4F3"/>
                </a:solidFill>
                <a:latin typeface="Gotham Medium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D8E4F3"/>
                </a:solidFill>
                <a:latin typeface="Gotham Medium"/>
                <a:ea typeface="Calibri" pitchFamily="34" charset="-122"/>
                <a:cs typeface="Calibri" pitchFamily="34" charset="-120"/>
              </a:rPr>
              <a:t>con lesionados, </a:t>
            </a:r>
            <a:r>
              <a:rPr lang="en-US" sz="1100" dirty="0" smtClean="0">
                <a:solidFill>
                  <a:srgbClr val="D8E4F3"/>
                </a:solidFill>
                <a:latin typeface="Gotham Medium"/>
                <a:ea typeface="Calibri" pitchFamily="34" charset="-122"/>
                <a:cs typeface="Calibri" pitchFamily="34" charset="-120"/>
              </a:rPr>
              <a:t>2024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100" dirty="0">
              <a:solidFill>
                <a:srgbClr val="D8E4F3"/>
              </a:solidFill>
              <a:latin typeface="Gotham Medium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100" dirty="0" smtClean="0">
              <a:solidFill>
                <a:srgbClr val="D8E4F3"/>
              </a:solidFill>
              <a:latin typeface="Gotham Medium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 smtClean="0">
                <a:solidFill>
                  <a:srgbClr val="D8E4F3"/>
                </a:solidFill>
                <a:latin typeface="Gotham Medium"/>
                <a:cs typeface="Calibri" pitchFamily="34" charset="-120"/>
              </a:rPr>
              <a:t>SIES: </a:t>
            </a:r>
            <a:r>
              <a:rPr lang="en-US" sz="1100" dirty="0" err="1" smtClean="0">
                <a:solidFill>
                  <a:srgbClr val="D8E4F3"/>
                </a:solidFill>
                <a:latin typeface="Gotham Medium"/>
                <a:cs typeface="Calibri" pitchFamily="34" charset="-120"/>
              </a:rPr>
              <a:t>Sistema</a:t>
            </a:r>
            <a:r>
              <a:rPr lang="en-US" sz="1100" dirty="0" smtClean="0">
                <a:solidFill>
                  <a:srgbClr val="D8E4F3"/>
                </a:solidFill>
                <a:latin typeface="Gotham Medium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D8E4F3"/>
                </a:solidFill>
                <a:latin typeface="Gotham Medium"/>
                <a:cs typeface="Calibri" pitchFamily="34" charset="-120"/>
              </a:rPr>
              <a:t>Integrado</a:t>
            </a:r>
            <a:r>
              <a:rPr lang="en-US" sz="1100" dirty="0" smtClean="0">
                <a:solidFill>
                  <a:srgbClr val="D8E4F3"/>
                </a:solidFill>
                <a:latin typeface="Gotham Medium"/>
                <a:cs typeface="Calibri" pitchFamily="34" charset="-120"/>
              </a:rPr>
              <a:t> de </a:t>
            </a:r>
            <a:r>
              <a:rPr lang="en-US" sz="1100" dirty="0" err="1" smtClean="0">
                <a:solidFill>
                  <a:srgbClr val="D8E4F3"/>
                </a:solidFill>
                <a:latin typeface="Gotham Medium"/>
                <a:cs typeface="Calibri" pitchFamily="34" charset="-120"/>
              </a:rPr>
              <a:t>Emergencias</a:t>
            </a:r>
            <a:r>
              <a:rPr lang="en-US" sz="1100" dirty="0" smtClean="0">
                <a:solidFill>
                  <a:srgbClr val="D8E4F3"/>
                </a:solidFill>
                <a:latin typeface="Gotham Medium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D8E4F3"/>
                </a:solidFill>
                <a:latin typeface="Gotham Medium"/>
                <a:cs typeface="Calibri" pitchFamily="34" charset="-120"/>
              </a:rPr>
              <a:t>Sanitarias</a:t>
            </a:r>
            <a:endParaRPr lang="en-US" sz="1100" dirty="0">
              <a:solidFill>
                <a:srgbClr val="D8E4F3"/>
              </a:solidFill>
              <a:latin typeface="Gotham Medium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100" dirty="0" smtClean="0">
              <a:solidFill>
                <a:srgbClr val="D8E4F3"/>
              </a:solidFill>
              <a:latin typeface="Gotham Medium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100" dirty="0">
              <a:solidFill>
                <a:srgbClr val="D8E4F3"/>
              </a:solidFill>
              <a:latin typeface="Gotham Medium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100" dirty="0">
              <a:latin typeface="Gotham Medium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2756916" y="1965960"/>
            <a:ext cx="2176272" cy="3566160"/>
          </a:xfrm>
          <a:prstGeom prst="roundRect">
            <a:avLst>
              <a:gd name="adj" fmla="val 3782"/>
            </a:avLst>
          </a:prstGeom>
          <a:solidFill>
            <a:srgbClr val="182B4C"/>
          </a:solidFill>
          <a:ln/>
        </p:spPr>
      </p:sp>
      <p:sp>
        <p:nvSpPr>
          <p:cNvPr id="28" name="Shape 9"/>
          <p:cNvSpPr/>
          <p:nvPr/>
        </p:nvSpPr>
        <p:spPr>
          <a:xfrm>
            <a:off x="2921508" y="2194560"/>
            <a:ext cx="1847088" cy="18288"/>
          </a:xfrm>
          <a:prstGeom prst="roundRect">
            <a:avLst/>
          </a:prstGeom>
          <a:solidFill>
            <a:srgbClr val="D40E25"/>
          </a:solidFill>
          <a:ln/>
        </p:spPr>
      </p:sp>
      <p:sp>
        <p:nvSpPr>
          <p:cNvPr id="29" name="Text 10"/>
          <p:cNvSpPr/>
          <p:nvPr/>
        </p:nvSpPr>
        <p:spPr>
          <a:xfrm>
            <a:off x="2921508" y="233172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otham Medium"/>
                <a:ea typeface="Cambria" pitchFamily="34" charset="-122"/>
                <a:cs typeface="Cambria" pitchFamily="34" charset="-120"/>
              </a:rPr>
              <a:t>SIDEAT</a:t>
            </a:r>
            <a:endParaRPr lang="en-US" sz="1500" dirty="0">
              <a:latin typeface="Gotham Medium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2921508" y="324612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40E25"/>
                </a:solidFill>
                <a:latin typeface="Gotham Medium"/>
                <a:ea typeface="Cambria" pitchFamily="34" charset="-122"/>
                <a:cs typeface="Cambria" pitchFamily="34" charset="-120"/>
              </a:rPr>
              <a:t>45.092 denuncias</a:t>
            </a:r>
            <a:endParaRPr lang="en-US" sz="1900" dirty="0">
              <a:solidFill>
                <a:srgbClr val="D40E25"/>
              </a:solidFill>
              <a:latin typeface="Gotham Medium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2849336" y="3977640"/>
            <a:ext cx="200025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100" dirty="0" smtClean="0">
              <a:solidFill>
                <a:srgbClr val="D8E4F3"/>
              </a:solidFill>
              <a:latin typeface="Gotham Medium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100" dirty="0">
              <a:solidFill>
                <a:srgbClr val="D8E4F3"/>
              </a:solidFill>
              <a:latin typeface="Gotham Medium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 err="1" smtClean="0">
                <a:solidFill>
                  <a:srgbClr val="D8E4F3"/>
                </a:solidFill>
                <a:latin typeface="Gotham Medium"/>
                <a:ea typeface="Calibri" pitchFamily="34" charset="-122"/>
                <a:cs typeface="Calibri" pitchFamily="34" charset="-120"/>
              </a:rPr>
              <a:t>Siniestros</a:t>
            </a:r>
            <a:r>
              <a:rPr lang="en-US" sz="1100" dirty="0" smtClean="0">
                <a:solidFill>
                  <a:srgbClr val="D8E4F3"/>
                </a:solidFill>
                <a:latin typeface="Gotham Medium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D8E4F3"/>
                </a:solidFill>
                <a:latin typeface="Gotham Medium"/>
                <a:ea typeface="Calibri" pitchFamily="34" charset="-122"/>
                <a:cs typeface="Calibri" pitchFamily="34" charset="-120"/>
              </a:rPr>
              <a:t>sin lesionados, </a:t>
            </a:r>
            <a:r>
              <a:rPr lang="en-US" sz="1100" dirty="0" smtClean="0">
                <a:solidFill>
                  <a:srgbClr val="D8E4F3"/>
                </a:solidFill>
                <a:latin typeface="Gotham Medium"/>
                <a:ea typeface="Calibri" pitchFamily="34" charset="-122"/>
                <a:cs typeface="Calibri" pitchFamily="34" charset="-120"/>
              </a:rPr>
              <a:t>2018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100" dirty="0">
              <a:solidFill>
                <a:srgbClr val="D8E4F3"/>
              </a:solidFill>
              <a:latin typeface="Gotham Medium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100" dirty="0" smtClean="0">
              <a:solidFill>
                <a:srgbClr val="D8E4F3"/>
              </a:solidFill>
              <a:latin typeface="Gotham Medium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100" dirty="0" smtClean="0">
                <a:solidFill>
                  <a:srgbClr val="D8E4F3"/>
                </a:solidFill>
                <a:latin typeface="Gotham Medium"/>
                <a:cs typeface="Calibri" pitchFamily="34" charset="-120"/>
              </a:rPr>
              <a:t>SIDEAT: </a:t>
            </a:r>
            <a:r>
              <a:rPr lang="es-AR" sz="1100" dirty="0">
                <a:solidFill>
                  <a:srgbClr val="D8E4F3"/>
                </a:solidFill>
                <a:latin typeface="Gotham Medium"/>
                <a:cs typeface="Calibri" pitchFamily="34" charset="-120"/>
              </a:rPr>
              <a:t>Sistema Integrado de Denuncias de Accidentes de Tránsito</a:t>
            </a:r>
            <a:endParaRPr lang="en-US" sz="1100" dirty="0">
              <a:solidFill>
                <a:srgbClr val="D8E4F3"/>
              </a:solidFill>
              <a:latin typeface="Gotham Medium"/>
              <a:cs typeface="Calibri" pitchFamily="34" charset="-120"/>
            </a:endParaRPr>
          </a:p>
        </p:txBody>
      </p:sp>
      <p:sp>
        <p:nvSpPr>
          <p:cNvPr id="32" name="Shape 13"/>
          <p:cNvSpPr/>
          <p:nvPr/>
        </p:nvSpPr>
        <p:spPr>
          <a:xfrm>
            <a:off x="5056632" y="1965960"/>
            <a:ext cx="2176272" cy="3566160"/>
          </a:xfrm>
          <a:prstGeom prst="roundRect">
            <a:avLst>
              <a:gd name="adj" fmla="val 3782"/>
            </a:avLst>
          </a:prstGeom>
          <a:solidFill>
            <a:srgbClr val="132A4D"/>
          </a:solidFill>
          <a:ln/>
        </p:spPr>
      </p:sp>
      <p:sp>
        <p:nvSpPr>
          <p:cNvPr id="33" name="Shape 14"/>
          <p:cNvSpPr/>
          <p:nvPr/>
        </p:nvSpPr>
        <p:spPr>
          <a:xfrm>
            <a:off x="5221224" y="2194560"/>
            <a:ext cx="1847088" cy="18288"/>
          </a:xfrm>
          <a:prstGeom prst="roundRect">
            <a:avLst/>
          </a:prstGeom>
          <a:solidFill>
            <a:srgbClr val="D40E25"/>
          </a:solidFill>
          <a:ln/>
        </p:spPr>
      </p:sp>
      <p:sp>
        <p:nvSpPr>
          <p:cNvPr id="34" name="Text 15"/>
          <p:cNvSpPr/>
          <p:nvPr/>
        </p:nvSpPr>
        <p:spPr>
          <a:xfrm>
            <a:off x="5221224" y="233172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otham Medium"/>
                <a:ea typeface="Cambria" pitchFamily="34" charset="-122"/>
                <a:cs typeface="Cambria" pitchFamily="34" charset="-120"/>
              </a:rPr>
              <a:t>Víctimas fatales</a:t>
            </a:r>
            <a:endParaRPr lang="en-US" sz="1500" dirty="0">
              <a:latin typeface="Gotham Medium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5221224" y="324612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40E25"/>
                </a:solidFill>
                <a:latin typeface="Gotham Medium"/>
                <a:ea typeface="Cambria" pitchFamily="34" charset="-122"/>
                <a:cs typeface="Cambria" pitchFamily="34" charset="-120"/>
              </a:rPr>
              <a:t>46 registros</a:t>
            </a:r>
            <a:endParaRPr lang="en-US" sz="1900" dirty="0">
              <a:solidFill>
                <a:srgbClr val="D40E25"/>
              </a:solidFill>
              <a:latin typeface="Gotham Medium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5151663" y="4042954"/>
            <a:ext cx="2008415" cy="995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D8E4F3"/>
                </a:solidFill>
                <a:latin typeface="Gotham Medium"/>
                <a:ea typeface="Calibri" pitchFamily="34" charset="-122"/>
                <a:cs typeface="Calibri" pitchFamily="34" charset="-120"/>
              </a:rPr>
              <a:t>Registro</a:t>
            </a:r>
            <a:r>
              <a:rPr lang="en-US" sz="1100" dirty="0">
                <a:solidFill>
                  <a:srgbClr val="D8E4F3"/>
                </a:solidFill>
                <a:latin typeface="Gotham Medium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D8E4F3"/>
                </a:solidFill>
                <a:latin typeface="Gotham Medium"/>
                <a:ea typeface="Calibri" pitchFamily="34" charset="-122"/>
                <a:cs typeface="Calibri" pitchFamily="34" charset="-120"/>
              </a:rPr>
              <a:t>provincial de </a:t>
            </a:r>
            <a:r>
              <a:rPr lang="en-US" sz="1100" dirty="0" err="1" smtClean="0">
                <a:solidFill>
                  <a:srgbClr val="D8E4F3"/>
                </a:solidFill>
                <a:latin typeface="Gotham Medium"/>
                <a:ea typeface="Calibri" pitchFamily="34" charset="-122"/>
                <a:cs typeface="Calibri" pitchFamily="34" charset="-120"/>
              </a:rPr>
              <a:t>víctimas</a:t>
            </a:r>
            <a:r>
              <a:rPr lang="en-US" sz="1100" dirty="0" smtClean="0">
                <a:solidFill>
                  <a:srgbClr val="D8E4F3"/>
                </a:solidFill>
                <a:latin typeface="Gotham Medium"/>
                <a:ea typeface="Calibri" pitchFamily="34" charset="-122"/>
                <a:cs typeface="Calibri" pitchFamily="34" charset="-120"/>
              </a:rPr>
              <a:t> fatales, </a:t>
            </a:r>
            <a:r>
              <a:rPr lang="en-US" sz="1100" dirty="0">
                <a:solidFill>
                  <a:srgbClr val="D8E4F3"/>
                </a:solidFill>
                <a:latin typeface="Gotham Medium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>
              <a:latin typeface="Gotham Medium"/>
            </a:endParaRPr>
          </a:p>
        </p:txBody>
      </p:sp>
      <p:sp>
        <p:nvSpPr>
          <p:cNvPr id="37" name="Shape 18"/>
          <p:cNvSpPr/>
          <p:nvPr/>
        </p:nvSpPr>
        <p:spPr>
          <a:xfrm>
            <a:off x="7356348" y="1965960"/>
            <a:ext cx="2176272" cy="3566160"/>
          </a:xfrm>
          <a:prstGeom prst="roundRect">
            <a:avLst>
              <a:gd name="adj" fmla="val 3782"/>
            </a:avLst>
          </a:prstGeom>
          <a:solidFill>
            <a:srgbClr val="1D4370"/>
          </a:solidFill>
          <a:ln/>
        </p:spPr>
      </p:sp>
      <p:sp>
        <p:nvSpPr>
          <p:cNvPr id="38" name="Shape 19"/>
          <p:cNvSpPr/>
          <p:nvPr/>
        </p:nvSpPr>
        <p:spPr>
          <a:xfrm>
            <a:off x="7520940" y="2194560"/>
            <a:ext cx="1847088" cy="18288"/>
          </a:xfrm>
          <a:prstGeom prst="roundRect">
            <a:avLst/>
          </a:prstGeom>
          <a:solidFill>
            <a:srgbClr val="D40E25"/>
          </a:solidFill>
          <a:ln/>
        </p:spPr>
      </p:sp>
      <p:sp>
        <p:nvSpPr>
          <p:cNvPr id="39" name="Text 20"/>
          <p:cNvSpPr/>
          <p:nvPr/>
        </p:nvSpPr>
        <p:spPr>
          <a:xfrm>
            <a:off x="7520940" y="233172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 err="1" smtClean="0">
                <a:solidFill>
                  <a:srgbClr val="FFFFFF"/>
                </a:solidFill>
                <a:latin typeface="Gotham Medium"/>
                <a:ea typeface="Cambria" pitchFamily="34" charset="-122"/>
                <a:cs typeface="Cambria" pitchFamily="34" charset="-120"/>
              </a:rPr>
              <a:t>Contadores</a:t>
            </a:r>
            <a:r>
              <a:rPr lang="en-US" sz="1500" b="1" dirty="0" smtClean="0">
                <a:solidFill>
                  <a:srgbClr val="FFFFFF"/>
                </a:solidFill>
                <a:latin typeface="Gotham Medium"/>
                <a:ea typeface="Cambria" pitchFamily="34" charset="-122"/>
                <a:cs typeface="Cambria" pitchFamily="34" charset="-120"/>
              </a:rPr>
              <a:t>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Gotham Medium"/>
                <a:ea typeface="Cambria" pitchFamily="34" charset="-122"/>
                <a:cs typeface="Cambria" pitchFamily="34" charset="-120"/>
              </a:rPr>
              <a:t>DSL</a:t>
            </a:r>
            <a:endParaRPr lang="en-US" sz="1500" dirty="0">
              <a:latin typeface="Gotham Medium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7520940" y="324612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40E25"/>
                </a:solidFill>
                <a:latin typeface="Gotham Medium"/>
                <a:ea typeface="Cambria" pitchFamily="34" charset="-122"/>
                <a:cs typeface="Cambria" pitchFamily="34" charset="-120"/>
              </a:rPr>
              <a:t>94 sensores</a:t>
            </a:r>
            <a:endParaRPr lang="en-US" sz="1900" dirty="0">
              <a:solidFill>
                <a:srgbClr val="D40E25"/>
              </a:solidFill>
              <a:latin typeface="Gotham Medium"/>
            </a:endParaRPr>
          </a:p>
        </p:txBody>
      </p:sp>
      <p:sp>
        <p:nvSpPr>
          <p:cNvPr id="41" name="Text 22"/>
          <p:cNvSpPr/>
          <p:nvPr/>
        </p:nvSpPr>
        <p:spPr>
          <a:xfrm>
            <a:off x="7520939" y="3920490"/>
            <a:ext cx="1925139" cy="1266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100" dirty="0" smtClean="0">
              <a:solidFill>
                <a:srgbClr val="D8E4F3"/>
              </a:solidFill>
              <a:latin typeface="Gotham Medium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100" dirty="0">
              <a:solidFill>
                <a:srgbClr val="D8E4F3"/>
              </a:solidFill>
              <a:latin typeface="Gotham Medium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100" dirty="0" smtClean="0">
              <a:solidFill>
                <a:srgbClr val="D8E4F3"/>
              </a:solidFill>
              <a:latin typeface="Gotham Medium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 err="1" smtClean="0">
                <a:solidFill>
                  <a:srgbClr val="D8E4F3"/>
                </a:solidFill>
                <a:latin typeface="Gotham Medium"/>
                <a:ea typeface="Calibri" pitchFamily="34" charset="-122"/>
                <a:cs typeface="Calibri" pitchFamily="34" charset="-120"/>
              </a:rPr>
              <a:t>Flujo</a:t>
            </a:r>
            <a:r>
              <a:rPr lang="en-US" sz="1100" dirty="0" smtClean="0">
                <a:solidFill>
                  <a:srgbClr val="D8E4F3"/>
                </a:solidFill>
                <a:latin typeface="Gotham Medium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D8E4F3"/>
                </a:solidFill>
                <a:latin typeface="Gotham Medium"/>
                <a:ea typeface="Calibri" pitchFamily="34" charset="-122"/>
                <a:cs typeface="Calibri" pitchFamily="34" charset="-120"/>
              </a:rPr>
              <a:t>vehicular continuo, </a:t>
            </a:r>
            <a:r>
              <a:rPr lang="en-US" sz="1100" dirty="0" smtClean="0">
                <a:solidFill>
                  <a:srgbClr val="D8E4F3"/>
                </a:solidFill>
                <a:latin typeface="Gotham Medium"/>
                <a:ea typeface="Calibri" pitchFamily="34" charset="-122"/>
                <a:cs typeface="Calibri" pitchFamily="34" charset="-120"/>
              </a:rPr>
              <a:t>2024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100" dirty="0" smtClean="0">
              <a:solidFill>
                <a:srgbClr val="D8E4F3"/>
              </a:solidFill>
              <a:latin typeface="Gotham Medium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100" dirty="0" smtClean="0">
              <a:solidFill>
                <a:srgbClr val="D8E4F3"/>
              </a:solidFill>
              <a:latin typeface="Gotham Medium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4F3"/>
                </a:solidFill>
                <a:latin typeface="Gotham Medium"/>
                <a:cs typeface="Calibri" pitchFamily="34" charset="-120"/>
              </a:rPr>
              <a:t>DSL: </a:t>
            </a:r>
            <a:r>
              <a:rPr lang="en-US" sz="1100" dirty="0" err="1">
                <a:solidFill>
                  <a:srgbClr val="D8E4F3"/>
                </a:solidFill>
                <a:latin typeface="Gotham Medium"/>
                <a:cs typeface="Calibri" pitchFamily="34" charset="-120"/>
              </a:rPr>
              <a:t>Dirección</a:t>
            </a:r>
            <a:r>
              <a:rPr lang="en-US" sz="1100" dirty="0">
                <a:solidFill>
                  <a:srgbClr val="D8E4F3"/>
                </a:solidFill>
                <a:latin typeface="Gotham Medium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D8E4F3"/>
                </a:solidFill>
                <a:latin typeface="Gotham Medium"/>
                <a:cs typeface="Calibri" pitchFamily="34" charset="-120"/>
              </a:rPr>
              <a:t>Señalización</a:t>
            </a:r>
            <a:r>
              <a:rPr lang="en-US" sz="1100" dirty="0">
                <a:solidFill>
                  <a:srgbClr val="D8E4F3"/>
                </a:solidFill>
                <a:latin typeface="Gotham Medium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D8E4F3"/>
                </a:solidFill>
                <a:latin typeface="Gotham Medium"/>
                <a:cs typeface="Calibri" pitchFamily="34" charset="-120"/>
              </a:rPr>
              <a:t>Luminosa</a:t>
            </a:r>
            <a:endParaRPr lang="en-US" sz="1100" dirty="0">
              <a:solidFill>
                <a:srgbClr val="D8E4F3"/>
              </a:solidFill>
              <a:latin typeface="Gotham Medium"/>
              <a:cs typeface="Calibri" pitchFamily="34" charset="-120"/>
            </a:endParaRPr>
          </a:p>
        </p:txBody>
      </p:sp>
      <p:sp>
        <p:nvSpPr>
          <p:cNvPr id="42" name="Shape 23"/>
          <p:cNvSpPr/>
          <p:nvPr/>
        </p:nvSpPr>
        <p:spPr>
          <a:xfrm>
            <a:off x="9656064" y="1965960"/>
            <a:ext cx="2176272" cy="3566160"/>
          </a:xfrm>
          <a:prstGeom prst="roundRect">
            <a:avLst>
              <a:gd name="adj" fmla="val 3782"/>
            </a:avLst>
          </a:prstGeom>
          <a:solidFill>
            <a:srgbClr val="1D4370"/>
          </a:solidFill>
          <a:ln/>
        </p:spPr>
      </p:sp>
      <p:sp>
        <p:nvSpPr>
          <p:cNvPr id="43" name="Shape 24"/>
          <p:cNvSpPr/>
          <p:nvPr/>
        </p:nvSpPr>
        <p:spPr>
          <a:xfrm>
            <a:off x="9820656" y="2194560"/>
            <a:ext cx="1847088" cy="18288"/>
          </a:xfrm>
          <a:prstGeom prst="roundRect">
            <a:avLst/>
          </a:prstGeom>
          <a:solidFill>
            <a:srgbClr val="D40E25"/>
          </a:solidFill>
          <a:ln/>
        </p:spPr>
      </p:sp>
      <p:sp>
        <p:nvSpPr>
          <p:cNvPr id="44" name="Text 25"/>
          <p:cNvSpPr/>
          <p:nvPr/>
        </p:nvSpPr>
        <p:spPr>
          <a:xfrm>
            <a:off x="9820656" y="233172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 err="1">
                <a:solidFill>
                  <a:srgbClr val="FFFFFF"/>
                </a:solidFill>
                <a:latin typeface="Gotham Medium"/>
                <a:ea typeface="Cambria" pitchFamily="34" charset="-122"/>
                <a:cs typeface="Cambria" pitchFamily="34" charset="-120"/>
              </a:rPr>
              <a:t>Censos</a:t>
            </a:r>
            <a:r>
              <a:rPr lang="en-US" sz="1500" b="1" dirty="0">
                <a:solidFill>
                  <a:srgbClr val="FFFFFF"/>
                </a:solidFill>
                <a:latin typeface="Gotham Medium"/>
                <a:ea typeface="Cambria" pitchFamily="34" charset="-122"/>
                <a:cs typeface="Cambria" pitchFamily="34" charset="-120"/>
              </a:rPr>
              <a:t> </a:t>
            </a:r>
            <a:endParaRPr lang="en-US" sz="1500" b="1" dirty="0" smtClean="0">
              <a:solidFill>
                <a:srgbClr val="FFFFFF"/>
              </a:solidFill>
              <a:latin typeface="Gotham Medium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 err="1" smtClean="0">
                <a:solidFill>
                  <a:srgbClr val="FFFFFF"/>
                </a:solidFill>
                <a:latin typeface="Gotham Medium"/>
                <a:ea typeface="Cambria" pitchFamily="34" charset="-122"/>
                <a:cs typeface="Cambria" pitchFamily="34" charset="-120"/>
              </a:rPr>
              <a:t>manuales</a:t>
            </a:r>
            <a:endParaRPr lang="en-US" sz="1500" dirty="0">
              <a:latin typeface="Gotham Medium"/>
            </a:endParaRPr>
          </a:p>
        </p:txBody>
      </p:sp>
      <p:sp>
        <p:nvSpPr>
          <p:cNvPr id="45" name="Text 26"/>
          <p:cNvSpPr/>
          <p:nvPr/>
        </p:nvSpPr>
        <p:spPr>
          <a:xfrm>
            <a:off x="9820656" y="324612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40E25"/>
                </a:solidFill>
                <a:latin typeface="Gotham Medium"/>
                <a:ea typeface="Cambria" pitchFamily="34" charset="-122"/>
                <a:cs typeface="Cambria" pitchFamily="34" charset="-120"/>
              </a:rPr>
              <a:t>68 relevamientos</a:t>
            </a:r>
            <a:endParaRPr lang="en-US" sz="1900" dirty="0">
              <a:solidFill>
                <a:srgbClr val="D40E25"/>
              </a:solidFill>
              <a:latin typeface="Gotham Medium"/>
            </a:endParaRPr>
          </a:p>
        </p:txBody>
      </p:sp>
      <p:sp>
        <p:nvSpPr>
          <p:cNvPr id="46" name="Text 27"/>
          <p:cNvSpPr/>
          <p:nvPr/>
        </p:nvSpPr>
        <p:spPr>
          <a:xfrm>
            <a:off x="9820656" y="3977640"/>
            <a:ext cx="1847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4F3"/>
                </a:solidFill>
                <a:latin typeface="Gotham Medium"/>
                <a:ea typeface="Calibri" pitchFamily="34" charset="-122"/>
                <a:cs typeface="Calibri" pitchFamily="34" charset="-120"/>
              </a:rPr>
              <a:t>Ente de la Movilidad, 2025</a:t>
            </a:r>
            <a:endParaRPr lang="en-US" sz="1100" dirty="0">
              <a:latin typeface="Gotham Medium"/>
            </a:endParaRP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9" t="43124" r="73185" b="37412"/>
          <a:stretch/>
        </p:blipFill>
        <p:spPr>
          <a:xfrm>
            <a:off x="3720123" y="2438107"/>
            <a:ext cx="1213065" cy="610186"/>
          </a:xfrm>
          <a:prstGeom prst="rect">
            <a:avLst/>
          </a:prstGeom>
        </p:spPr>
      </p:pic>
      <p:pic>
        <p:nvPicPr>
          <p:cNvPr id="4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01" t="34773" r="59197" b="39708"/>
          <a:stretch/>
        </p:blipFill>
        <p:spPr>
          <a:xfrm>
            <a:off x="1921725" y="2355389"/>
            <a:ext cx="461967" cy="654864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05" t="34773" r="1078" b="37529"/>
          <a:stretch/>
        </p:blipFill>
        <p:spPr>
          <a:xfrm>
            <a:off x="11032703" y="2394634"/>
            <a:ext cx="671617" cy="760046"/>
          </a:xfrm>
          <a:prstGeom prst="rect">
            <a:avLst/>
          </a:prstGeom>
        </p:spPr>
      </p:pic>
      <p:pic>
        <p:nvPicPr>
          <p:cNvPr id="6" name="5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17" t="35712" r="40550" b="37295"/>
          <a:stretch/>
        </p:blipFill>
        <p:spPr>
          <a:xfrm>
            <a:off x="6687408" y="2340444"/>
            <a:ext cx="446450" cy="684753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9" t="20197" r="2858" b="18841"/>
          <a:stretch/>
        </p:blipFill>
        <p:spPr>
          <a:xfrm>
            <a:off x="8450838" y="2617233"/>
            <a:ext cx="1144954" cy="493123"/>
          </a:xfrm>
          <a:prstGeom prst="rect">
            <a:avLst/>
          </a:prstGeom>
        </p:spPr>
      </p:pic>
      <p:sp>
        <p:nvSpPr>
          <p:cNvPr id="48" name="TextBox 33"/>
          <p:cNvSpPr txBox="1"/>
          <p:nvPr/>
        </p:nvSpPr>
        <p:spPr>
          <a:xfrm>
            <a:off x="11155680" y="6537960"/>
            <a:ext cx="457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sz="900" b="0" i="0" dirty="0" smtClean="0">
                <a:solidFill>
                  <a:srgbClr val="545C65"/>
                </a:solidFill>
                <a:latin typeface="Aptos"/>
              </a:rPr>
              <a:t>5</a:t>
            </a:r>
            <a:endParaRPr sz="900" b="0" i="0" dirty="0">
              <a:solidFill>
                <a:srgbClr val="545C65"/>
              </a:solidFill>
              <a:latin typeface="Aptos"/>
            </a:endParaRPr>
          </a:p>
        </p:txBody>
      </p:sp>
      <p:sp>
        <p:nvSpPr>
          <p:cNvPr id="47" name="Text 6"/>
          <p:cNvSpPr/>
          <p:nvPr/>
        </p:nvSpPr>
        <p:spPr>
          <a:xfrm>
            <a:off x="457200" y="5776914"/>
            <a:ext cx="677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 err="1" smtClean="0">
                <a:solidFill>
                  <a:srgbClr val="D40E25"/>
                </a:solidFill>
                <a:latin typeface="Gotham Medium"/>
                <a:ea typeface="Cambria" pitchFamily="34" charset="-122"/>
                <a:cs typeface="Cambria" pitchFamily="34" charset="-120"/>
              </a:rPr>
              <a:t>Datos</a:t>
            </a:r>
            <a:r>
              <a:rPr lang="en-US" sz="1900" b="1" dirty="0" smtClean="0">
                <a:solidFill>
                  <a:srgbClr val="D40E25"/>
                </a:solidFill>
                <a:latin typeface="Gotham Medium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1900" b="1" dirty="0" err="1" smtClean="0">
                <a:solidFill>
                  <a:srgbClr val="D40E25"/>
                </a:solidFill>
                <a:latin typeface="Gotham Medium"/>
                <a:ea typeface="Cambria" pitchFamily="34" charset="-122"/>
                <a:cs typeface="Cambria" pitchFamily="34" charset="-120"/>
              </a:rPr>
              <a:t>siniestros</a:t>
            </a:r>
            <a:endParaRPr lang="en-US" sz="1900" dirty="0">
              <a:solidFill>
                <a:srgbClr val="D40E25"/>
              </a:solidFill>
              <a:latin typeface="Gotham Medium"/>
            </a:endParaRPr>
          </a:p>
        </p:txBody>
      </p:sp>
      <p:sp>
        <p:nvSpPr>
          <p:cNvPr id="8" name="7 Cerrar llave"/>
          <p:cNvSpPr/>
          <p:nvPr/>
        </p:nvSpPr>
        <p:spPr>
          <a:xfrm rot="5400000">
            <a:off x="3701041" y="2356491"/>
            <a:ext cx="222884" cy="6840846"/>
          </a:xfrm>
          <a:prstGeom prst="rightBrace">
            <a:avLst>
              <a:gd name="adj1" fmla="val 0"/>
              <a:gd name="adj2" fmla="val 50000"/>
            </a:avLst>
          </a:prstGeom>
          <a:solidFill>
            <a:schemeClr val="bg1"/>
          </a:solidFill>
          <a:ln>
            <a:solidFill>
              <a:srgbClr val="D40E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>
              <a:solidFill>
                <a:srgbClr val="D40E25"/>
              </a:solidFill>
            </a:endParaRPr>
          </a:p>
        </p:txBody>
      </p:sp>
      <p:sp>
        <p:nvSpPr>
          <p:cNvPr id="49" name="48 Cerrar llave"/>
          <p:cNvSpPr/>
          <p:nvPr/>
        </p:nvSpPr>
        <p:spPr>
          <a:xfrm rot="5400000">
            <a:off x="9505265" y="3521319"/>
            <a:ext cx="222884" cy="4520718"/>
          </a:xfrm>
          <a:prstGeom prst="rightBrace">
            <a:avLst>
              <a:gd name="adj1" fmla="val 0"/>
              <a:gd name="adj2" fmla="val 50000"/>
            </a:avLst>
          </a:prstGeom>
          <a:solidFill>
            <a:schemeClr val="bg1"/>
          </a:solidFill>
          <a:ln>
            <a:solidFill>
              <a:srgbClr val="D40E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>
              <a:solidFill>
                <a:srgbClr val="D40E25"/>
              </a:solidFill>
            </a:endParaRPr>
          </a:p>
        </p:txBody>
      </p:sp>
      <p:sp>
        <p:nvSpPr>
          <p:cNvPr id="50" name="Text 6"/>
          <p:cNvSpPr/>
          <p:nvPr/>
        </p:nvSpPr>
        <p:spPr>
          <a:xfrm>
            <a:off x="7375397" y="5757864"/>
            <a:ext cx="450166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 err="1" smtClean="0">
                <a:solidFill>
                  <a:srgbClr val="D40E25"/>
                </a:solidFill>
                <a:latin typeface="Gotham Medium"/>
                <a:ea typeface="Cambria" pitchFamily="34" charset="-122"/>
                <a:cs typeface="Cambria" pitchFamily="34" charset="-120"/>
              </a:rPr>
              <a:t>Datos</a:t>
            </a:r>
            <a:r>
              <a:rPr lang="en-US" sz="1900" b="1" dirty="0" smtClean="0">
                <a:solidFill>
                  <a:srgbClr val="D40E25"/>
                </a:solidFill>
                <a:latin typeface="Gotham Medium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1900" b="1" dirty="0" err="1" smtClean="0">
                <a:solidFill>
                  <a:srgbClr val="D40E25"/>
                </a:solidFill>
                <a:latin typeface="Gotham Medium"/>
                <a:ea typeface="Cambria" pitchFamily="34" charset="-122"/>
                <a:cs typeface="Cambria" pitchFamily="34" charset="-120"/>
              </a:rPr>
              <a:t>tránsito</a:t>
            </a:r>
            <a:endParaRPr lang="en-US" sz="1900" dirty="0">
              <a:solidFill>
                <a:srgbClr val="D40E25"/>
              </a:solidFill>
              <a:latin typeface="Gotham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408267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="" xmlns:a16="http://schemas.microsoft.com/office/drawing/2014/main" id="{48051C4E-A246-9B4E-D593-21C3D257E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192" y="1170432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32A4D"/>
                </a:solidFill>
                <a:latin typeface="Gotham Medium"/>
              </a:rPr>
              <a:t>La base georreferenciada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1874519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45C65"/>
                </a:solidFill>
                <a:latin typeface="Aptos"/>
              </a:rPr>
              <a:t>Antes de medir riesgo, necesitamos saber exactamente en qué esquina ocurrió cada siniestro.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" y="2514600"/>
            <a:ext cx="2395728" cy="214884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 w="12700">
            <a:solidFill>
              <a:srgbClr val="1D4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2715768"/>
            <a:ext cx="411480" cy="411480"/>
          </a:xfrm>
          <a:prstGeom prst="ellipse">
            <a:avLst/>
          </a:prstGeom>
          <a:solidFill>
            <a:srgbClr val="D4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Gotham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91840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370"/>
                </a:solidFill>
                <a:latin typeface="Gotham Medium"/>
              </a:rPr>
              <a:t>Red vial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57600"/>
            <a:ext cx="19933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45C65"/>
                </a:solidFill>
                <a:latin typeface="Aptos"/>
              </a:rPr>
              <a:t>Intersecciones a partir de OpenStreetMap + incorporación manual de rotondas.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24752" y="3276092"/>
            <a:ext cx="223520" cy="12293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4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76053" y="2514600"/>
            <a:ext cx="2395728" cy="214884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 w="12700">
            <a:solidFill>
              <a:srgbClr val="1D4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277221" y="2715768"/>
            <a:ext cx="411480" cy="411480"/>
          </a:xfrm>
          <a:prstGeom prst="ellipse">
            <a:avLst/>
          </a:prstGeom>
          <a:solidFill>
            <a:srgbClr val="D4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Gotham Medium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7221" y="3291840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370"/>
                </a:solidFill>
                <a:latin typeface="Gotham Medium"/>
              </a:rPr>
              <a:t>Normalización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7221" y="3657600"/>
            <a:ext cx="19933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45C65"/>
                </a:solidFill>
                <a:latin typeface="Aptos"/>
              </a:rPr>
              <a:t>Diccionario de equivalencias para unificar nombres, abreviaturas y errores de escritura.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507613" y="3276092"/>
            <a:ext cx="223520" cy="12293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4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766729" y="2514600"/>
            <a:ext cx="2395728" cy="214884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 w="12700">
            <a:solidFill>
              <a:srgbClr val="1D4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967897" y="2715768"/>
            <a:ext cx="411480" cy="411480"/>
          </a:xfrm>
          <a:prstGeom prst="ellipse">
            <a:avLst/>
          </a:prstGeom>
          <a:solidFill>
            <a:srgbClr val="D4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Gotham Medium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7897" y="3291840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370"/>
                </a:solidFill>
                <a:latin typeface="Gotham Medium"/>
              </a:rPr>
              <a:t>Georreferenciación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7897" y="3657600"/>
            <a:ext cx="19933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45C65"/>
                </a:solidFill>
                <a:latin typeface="Aptos"/>
              </a:rPr>
              <a:t>Asignación de coordenadas con validación manual en Infomapa (Municipalidad de Rosario).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198289" y="3276092"/>
            <a:ext cx="223520" cy="12293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4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65220" y="2514600"/>
            <a:ext cx="2395728" cy="214884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 w="12700">
            <a:solidFill>
              <a:srgbClr val="1D4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66388" y="2715768"/>
            <a:ext cx="411480" cy="411480"/>
          </a:xfrm>
          <a:prstGeom prst="ellipse">
            <a:avLst/>
          </a:prstGeom>
          <a:solidFill>
            <a:srgbClr val="D4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Gotham Medium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6388" y="3291840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370"/>
                </a:solidFill>
                <a:latin typeface="Gotham Medium"/>
              </a:rPr>
              <a:t>Asignación espacial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6388" y="3657600"/>
            <a:ext cx="19933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45C65"/>
                </a:solidFill>
                <a:latin typeface="Aptos"/>
              </a:rPr>
              <a:t>Cada siniestro se vincula a la intersección urbana más cercana.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" y="5074920"/>
            <a:ext cx="10332720" cy="1143000"/>
          </a:xfrm>
          <a:prstGeom prst="roundRect">
            <a:avLst>
              <a:gd name="adj" fmla="val 6000"/>
            </a:avLst>
          </a:prstGeom>
          <a:solidFill>
            <a:srgbClr val="132A4D"/>
          </a:solidFill>
          <a:ln w="12700">
            <a:solidFill>
              <a:srgbClr val="13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1937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40E25"/>
                </a:solidFill>
                <a:latin typeface="Gotham Medium"/>
              </a:rPr>
              <a:t>COBERTURA DE GEORREFERENCIACIÓN LOGRADA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50468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Gotham Medium"/>
              </a:rPr>
              <a:t>93,7%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893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8E4F3"/>
                </a:solidFill>
                <a:latin typeface="Aptos"/>
              </a:rPr>
              <a:t>SIES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550468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Gotham Medium"/>
              </a:rPr>
              <a:t>98,05%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59893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8E4F3"/>
                </a:solidFill>
                <a:latin typeface="Aptos"/>
              </a:rPr>
              <a:t>SIDEAT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79" y="550468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Gotham Medium"/>
              </a:rP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79" y="59893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8E4F3"/>
                </a:solidFill>
                <a:latin typeface="Aptos"/>
              </a:rPr>
              <a:t>Víctimas fatales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537960"/>
            <a:ext cx="457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sz="900" b="0" i="0" dirty="0" smtClean="0">
                <a:solidFill>
                  <a:srgbClr val="545C65"/>
                </a:solidFill>
                <a:latin typeface="Aptos"/>
              </a:rPr>
              <a:t>6</a:t>
            </a:r>
            <a:endParaRPr sz="900" b="0" i="0" dirty="0">
              <a:solidFill>
                <a:srgbClr val="545C65"/>
              </a:solidFill>
              <a:latin typeface="Aptos"/>
            </a:endParaRP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7" t="47552" r="78888" b="31818"/>
          <a:stretch/>
        </p:blipFill>
        <p:spPr>
          <a:xfrm>
            <a:off x="1976723" y="2633508"/>
            <a:ext cx="724358" cy="576000"/>
          </a:xfrm>
          <a:prstGeom prst="rect">
            <a:avLst/>
          </a:prstGeom>
        </p:spPr>
      </p:pic>
      <p:pic>
        <p:nvPicPr>
          <p:cNvPr id="35" name="34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58" t="48018" r="53602" b="31819"/>
          <a:stretch/>
        </p:blipFill>
        <p:spPr>
          <a:xfrm>
            <a:off x="4492748" y="2633508"/>
            <a:ext cx="910146" cy="576000"/>
          </a:xfrm>
          <a:prstGeom prst="rect">
            <a:avLst/>
          </a:prstGeom>
        </p:spPr>
      </p:pic>
      <p:pic>
        <p:nvPicPr>
          <p:cNvPr id="36" name="35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63" t="45688" r="33323" b="32983"/>
          <a:stretch/>
        </p:blipFill>
        <p:spPr>
          <a:xfrm>
            <a:off x="7359034" y="2633508"/>
            <a:ext cx="681100" cy="576000"/>
          </a:xfrm>
          <a:prstGeom prst="rect">
            <a:avLst/>
          </a:prstGeom>
        </p:spPr>
      </p:pic>
      <p:pic>
        <p:nvPicPr>
          <p:cNvPr id="37" name="36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37" t="47863" r="7915" b="31818"/>
          <a:stretch/>
        </p:blipFill>
        <p:spPr>
          <a:xfrm>
            <a:off x="9873461" y="2633508"/>
            <a:ext cx="852451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698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="" xmlns:a16="http://schemas.microsoft.com/office/drawing/2014/main" id="{48051C4E-A246-9B4E-D593-21C3D257E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192" y="1170432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32A4D"/>
                </a:solidFill>
                <a:latin typeface="Gotham Medium"/>
              </a:rPr>
              <a:t>¿Cuánto tránsito tiene cada esquina?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1874519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545C65"/>
                </a:solidFill>
                <a:latin typeface="Aptos"/>
              </a:rPr>
              <a:t>Solo 94 espiras miden el tránsito de forma directa. Para el resto de las esquinas de Rosario, el flujo se estimó.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" y="2606040"/>
            <a:ext cx="1938528" cy="1554480"/>
          </a:xfrm>
          <a:prstGeom prst="roundRect">
            <a:avLst>
              <a:gd name="adj" fmla="val 6000"/>
            </a:avLst>
          </a:prstGeom>
          <a:solidFill>
            <a:srgbClr val="1D4370"/>
          </a:solidFill>
          <a:ln w="12700">
            <a:solidFill>
              <a:srgbClr val="1D4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9496" y="2752344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Gotham Medium"/>
              </a:rPr>
              <a:t>Asignación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3319272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D8E4F3"/>
                </a:solidFill>
                <a:latin typeface="Aptos"/>
              </a:rPr>
              <a:t>Vinculación espacial de espiras a intersecciones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82438" y="3122676"/>
            <a:ext cx="182880" cy="10058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45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05722" y="2606040"/>
            <a:ext cx="1938528" cy="1554480"/>
          </a:xfrm>
          <a:prstGeom prst="roundRect">
            <a:avLst>
              <a:gd name="adj" fmla="val 6000"/>
            </a:avLst>
          </a:prstGeom>
          <a:solidFill>
            <a:srgbClr val="132A4D"/>
          </a:solidFill>
          <a:ln w="12700">
            <a:solidFill>
              <a:srgbClr val="13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52026" y="2752344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dirty="0" err="1">
                <a:solidFill>
                  <a:srgbClr val="FFFFFF"/>
                </a:solidFill>
                <a:latin typeface="Gotham Medium"/>
              </a:rPr>
              <a:t>Expansión</a:t>
            </a:r>
            <a:endParaRPr sz="1250" b="1" i="0" dirty="0">
              <a:solidFill>
                <a:srgbClr val="FFFFFF"/>
              </a:solidFill>
              <a:latin typeface="Gotham Medium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52026" y="3319272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 dirty="0">
                <a:solidFill>
                  <a:srgbClr val="D8E4F3"/>
                </a:solidFill>
                <a:latin typeface="Aptos"/>
              </a:rPr>
              <a:t>Factor </a:t>
            </a:r>
            <a:r>
              <a:rPr sz="950" b="0" i="0" dirty="0" err="1">
                <a:solidFill>
                  <a:srgbClr val="D8E4F3"/>
                </a:solidFill>
                <a:latin typeface="Aptos"/>
              </a:rPr>
              <a:t>estructural</a:t>
            </a:r>
            <a:r>
              <a:rPr sz="950" b="0" i="0" dirty="0">
                <a:solidFill>
                  <a:srgbClr val="D8E4F3"/>
                </a:solidFill>
                <a:latin typeface="Aptos"/>
              </a:rPr>
              <a:t> </a:t>
            </a:r>
            <a:r>
              <a:rPr sz="950" b="0" i="0" dirty="0" err="1">
                <a:solidFill>
                  <a:srgbClr val="D8E4F3"/>
                </a:solidFill>
                <a:latin typeface="Aptos"/>
              </a:rPr>
              <a:t>según</a:t>
            </a:r>
            <a:r>
              <a:rPr sz="950" b="0" i="0" dirty="0">
                <a:solidFill>
                  <a:srgbClr val="D8E4F3"/>
                </a:solidFill>
                <a:latin typeface="Aptos"/>
              </a:rPr>
              <a:t> </a:t>
            </a:r>
            <a:r>
              <a:rPr sz="950" b="0" i="0" dirty="0" err="1">
                <a:solidFill>
                  <a:srgbClr val="D8E4F3"/>
                </a:solidFill>
                <a:latin typeface="Aptos"/>
              </a:rPr>
              <a:t>ramas</a:t>
            </a:r>
            <a:r>
              <a:rPr sz="950" b="0" i="0" dirty="0">
                <a:solidFill>
                  <a:srgbClr val="D8E4F3"/>
                </a:solidFill>
                <a:latin typeface="Aptos"/>
              </a:rPr>
              <a:t> del </a:t>
            </a:r>
            <a:r>
              <a:rPr sz="950" b="0" i="0" dirty="0" err="1">
                <a:solidFill>
                  <a:srgbClr val="D8E4F3"/>
                </a:solidFill>
                <a:latin typeface="Aptos"/>
              </a:rPr>
              <a:t>cruce</a:t>
            </a:r>
            <a:endParaRPr sz="950" b="0" i="0" dirty="0">
              <a:solidFill>
                <a:srgbClr val="D8E4F3"/>
              </a:solidFill>
              <a:latin typeface="Aptos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579338" y="3122676"/>
            <a:ext cx="182880" cy="10058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45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86992" y="2606040"/>
            <a:ext cx="1938528" cy="1554480"/>
          </a:xfrm>
          <a:prstGeom prst="roundRect">
            <a:avLst>
              <a:gd name="adj" fmla="val 6000"/>
            </a:avLst>
          </a:prstGeom>
          <a:solidFill>
            <a:srgbClr val="D40E25"/>
          </a:solidFill>
          <a:ln w="12700">
            <a:solidFill>
              <a:srgbClr val="D40E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3296" y="2752344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dirty="0" err="1">
                <a:solidFill>
                  <a:srgbClr val="FFFFFF"/>
                </a:solidFill>
                <a:latin typeface="Gotham Medium"/>
              </a:rPr>
              <a:t>Interpolación</a:t>
            </a:r>
            <a:r>
              <a:rPr sz="1250" b="1" i="0" dirty="0">
                <a:solidFill>
                  <a:srgbClr val="FFFFFF"/>
                </a:solidFill>
                <a:latin typeface="Gotham Medium"/>
              </a:rPr>
              <a:t> IDW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3296" y="3319272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 dirty="0" err="1">
                <a:solidFill>
                  <a:srgbClr val="D8E4F3"/>
                </a:solidFill>
                <a:latin typeface="Aptos"/>
              </a:rPr>
              <a:t>Estimación</a:t>
            </a:r>
            <a:r>
              <a:rPr sz="950" b="0" i="0" dirty="0">
                <a:solidFill>
                  <a:srgbClr val="D8E4F3"/>
                </a:solidFill>
                <a:latin typeface="Aptos"/>
              </a:rPr>
              <a:t> en </a:t>
            </a:r>
            <a:r>
              <a:rPr sz="950" b="0" i="0" dirty="0" err="1">
                <a:solidFill>
                  <a:srgbClr val="D8E4F3"/>
                </a:solidFill>
                <a:latin typeface="Aptos"/>
              </a:rPr>
              <a:t>puntos</a:t>
            </a:r>
            <a:r>
              <a:rPr sz="950" b="0" i="0" dirty="0">
                <a:solidFill>
                  <a:srgbClr val="D8E4F3"/>
                </a:solidFill>
                <a:latin typeface="Aptos"/>
              </a:rPr>
              <a:t> sin </a:t>
            </a:r>
            <a:r>
              <a:rPr sz="950" b="0" i="0" dirty="0" err="1">
                <a:solidFill>
                  <a:srgbClr val="D8E4F3"/>
                </a:solidFill>
                <a:latin typeface="Aptos"/>
              </a:rPr>
              <a:t>mediciones</a:t>
            </a:r>
            <a:r>
              <a:rPr sz="950" b="0" i="0" dirty="0">
                <a:solidFill>
                  <a:srgbClr val="D8E4F3"/>
                </a:solidFill>
                <a:latin typeface="Aptos"/>
              </a:rPr>
              <a:t> </a:t>
            </a:r>
            <a:r>
              <a:rPr sz="950" b="0" i="0" dirty="0" err="1">
                <a:solidFill>
                  <a:srgbClr val="D8E4F3"/>
                </a:solidFill>
                <a:latin typeface="Aptos"/>
              </a:rPr>
              <a:t>directas</a:t>
            </a:r>
            <a:endParaRPr sz="950" b="0" i="0" dirty="0">
              <a:solidFill>
                <a:srgbClr val="D8E4F3"/>
              </a:solidFill>
              <a:latin typeface="Aptos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6776238" y="3122676"/>
            <a:ext cx="182880" cy="10058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45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983892" y="2606040"/>
            <a:ext cx="1938528" cy="1554480"/>
          </a:xfrm>
          <a:prstGeom prst="roundRect">
            <a:avLst>
              <a:gd name="adj" fmla="val 6000"/>
            </a:avLst>
          </a:prstGeom>
          <a:solidFill>
            <a:srgbClr val="132A4D"/>
          </a:solidFill>
          <a:ln w="12700">
            <a:solidFill>
              <a:srgbClr val="13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0196" y="2752344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dirty="0" err="1">
                <a:solidFill>
                  <a:srgbClr val="FFFFFF"/>
                </a:solidFill>
                <a:latin typeface="Gotham Medium"/>
              </a:rPr>
              <a:t>Calibración</a:t>
            </a:r>
            <a:endParaRPr sz="1250" b="1" i="0" dirty="0">
              <a:solidFill>
                <a:srgbClr val="FFFFFF"/>
              </a:solidFill>
              <a:latin typeface="Gotham Medium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30196" y="3319272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 dirty="0" err="1">
                <a:solidFill>
                  <a:srgbClr val="D8E4F3"/>
                </a:solidFill>
                <a:latin typeface="Aptos"/>
              </a:rPr>
              <a:t>Ajuste</a:t>
            </a:r>
            <a:r>
              <a:rPr sz="950" b="0" i="0" dirty="0">
                <a:solidFill>
                  <a:srgbClr val="D8E4F3"/>
                </a:solidFill>
                <a:latin typeface="Aptos"/>
              </a:rPr>
              <a:t> con 68 </a:t>
            </a:r>
            <a:r>
              <a:rPr sz="950" b="0" i="0" dirty="0" err="1">
                <a:solidFill>
                  <a:srgbClr val="D8E4F3"/>
                </a:solidFill>
                <a:latin typeface="Aptos"/>
              </a:rPr>
              <a:t>censos</a:t>
            </a:r>
            <a:r>
              <a:rPr sz="950" b="0" i="0" dirty="0">
                <a:solidFill>
                  <a:srgbClr val="D8E4F3"/>
                </a:solidFill>
                <a:latin typeface="Aptos"/>
              </a:rPr>
              <a:t> </a:t>
            </a:r>
            <a:r>
              <a:rPr sz="950" b="0" i="0" dirty="0" err="1">
                <a:solidFill>
                  <a:srgbClr val="D8E4F3"/>
                </a:solidFill>
                <a:latin typeface="Aptos"/>
              </a:rPr>
              <a:t>manuales</a:t>
            </a:r>
            <a:endParaRPr sz="950" b="0" i="0" dirty="0">
              <a:solidFill>
                <a:srgbClr val="D8E4F3"/>
              </a:solidFill>
              <a:latin typeface="Aptos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8980953" y="3122676"/>
            <a:ext cx="182880" cy="10058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45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243312" y="2606040"/>
            <a:ext cx="1938528" cy="1554480"/>
          </a:xfrm>
          <a:prstGeom prst="roundRect">
            <a:avLst>
              <a:gd name="adj" fmla="val 6000"/>
            </a:avLst>
          </a:prstGeom>
          <a:solidFill>
            <a:srgbClr val="1D4370"/>
          </a:solidFill>
          <a:ln w="12700">
            <a:solidFill>
              <a:srgbClr val="1D4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89616" y="2752344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dirty="0" err="1">
                <a:solidFill>
                  <a:srgbClr val="FFFFFF"/>
                </a:solidFill>
                <a:latin typeface="Gotham Medium"/>
              </a:rPr>
              <a:t>Corrección</a:t>
            </a:r>
            <a:endParaRPr sz="1250" b="1" i="0" dirty="0">
              <a:solidFill>
                <a:srgbClr val="FFFFFF"/>
              </a:solidFill>
              <a:latin typeface="Gotham Medium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89616" y="3319272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 dirty="0" err="1">
                <a:solidFill>
                  <a:srgbClr val="D8E4F3"/>
                </a:solidFill>
                <a:latin typeface="Aptos"/>
              </a:rPr>
              <a:t>Coeficientes</a:t>
            </a:r>
            <a:r>
              <a:rPr sz="950" b="0" i="0" dirty="0">
                <a:solidFill>
                  <a:srgbClr val="D8E4F3"/>
                </a:solidFill>
                <a:latin typeface="Aptos"/>
              </a:rPr>
              <a:t> </a:t>
            </a:r>
            <a:r>
              <a:rPr sz="950" b="0" i="0" dirty="0" err="1">
                <a:solidFill>
                  <a:srgbClr val="D8E4F3"/>
                </a:solidFill>
                <a:latin typeface="Aptos"/>
              </a:rPr>
              <a:t>según</a:t>
            </a:r>
            <a:r>
              <a:rPr sz="950" b="0" i="0" dirty="0">
                <a:solidFill>
                  <a:srgbClr val="D8E4F3"/>
                </a:solidFill>
                <a:latin typeface="Aptos"/>
              </a:rPr>
              <a:t> </a:t>
            </a:r>
            <a:r>
              <a:rPr sz="950" b="0" i="0" dirty="0" err="1">
                <a:solidFill>
                  <a:srgbClr val="D8E4F3"/>
                </a:solidFill>
                <a:latin typeface="Aptos"/>
              </a:rPr>
              <a:t>tipo</a:t>
            </a:r>
            <a:r>
              <a:rPr sz="950" b="0" i="0" dirty="0">
                <a:solidFill>
                  <a:srgbClr val="D8E4F3"/>
                </a:solidFill>
                <a:latin typeface="Aptos"/>
              </a:rPr>
              <a:t> de </a:t>
            </a:r>
            <a:r>
              <a:rPr sz="950" b="0" i="0" dirty="0" err="1">
                <a:solidFill>
                  <a:srgbClr val="D8E4F3"/>
                </a:solidFill>
                <a:latin typeface="Aptos"/>
              </a:rPr>
              <a:t>cruce</a:t>
            </a:r>
            <a:endParaRPr sz="950" b="0" i="0" dirty="0">
              <a:solidFill>
                <a:srgbClr val="D8E4F3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651760" y="4434840"/>
            <a:ext cx="6858000" cy="502920"/>
          </a:xfrm>
          <a:prstGeom prst="roundRect">
            <a:avLst>
              <a:gd name="adj" fmla="val 6000"/>
            </a:avLst>
          </a:prstGeom>
          <a:solidFill>
            <a:srgbClr val="F6E9EA"/>
          </a:solidFill>
          <a:ln w="12700">
            <a:solidFill>
              <a:srgbClr val="D40E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51760" y="443484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BE2B32"/>
                </a:solidFill>
                <a:latin typeface="Gotham Medium"/>
              </a:rPr>
              <a:t>Estimación anual de flujo vehicular ajustada por intersección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" y="516636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D4370"/>
                </a:solidFill>
                <a:latin typeface="Gotham Medium"/>
              </a:rPr>
              <a:t>Interpolación por Distancia Inversa (IDW): </a:t>
            </a:r>
            <a:r>
              <a:rPr sz="1300" b="0" i="0">
                <a:solidFill>
                  <a:srgbClr val="545C65"/>
                </a:solidFill>
                <a:latin typeface="Aptos"/>
              </a:rPr>
              <a:t>el flujo de cada esquina se estima como un promedio ponderado del flujo en las espiras cercanas, dando más peso a las más próximas, y luego se calibra con los censos manuales para corregir sobreestimaciones cerca de avenidas.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37960"/>
            <a:ext cx="457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sz="900" b="0" i="0" dirty="0" smtClean="0">
                <a:solidFill>
                  <a:srgbClr val="545C65"/>
                </a:solidFill>
                <a:latin typeface="Aptos"/>
              </a:rPr>
              <a:t>7</a:t>
            </a:r>
            <a:endParaRPr sz="900" b="0" i="0" dirty="0">
              <a:solidFill>
                <a:srgbClr val="545C6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6397698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="" xmlns:a16="http://schemas.microsoft.com/office/drawing/2014/main" id="{48051C4E-A246-9B4E-D593-21C3D257E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192" y="1170432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32A4D"/>
                </a:solidFill>
                <a:latin typeface="Gotham Medium"/>
              </a:rPr>
              <a:t>Un índice que combina siniestros y tránsito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1874519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545C65"/>
                </a:solidFill>
                <a:latin typeface="Aptos"/>
              </a:rPr>
              <a:t>Con el flujo estimado para cada esquina, ya podemos responder la pregunta inicial.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8567" y="2514599"/>
            <a:ext cx="4480560" cy="1755329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 w="12700">
            <a:solidFill>
              <a:srgbClr val="1D4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7167" y="265176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370"/>
                </a:solidFill>
                <a:latin typeface="Gotham Medium"/>
              </a:rPr>
              <a:t>Frecuencia normalizada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17167" y="3017520"/>
                <a:ext cx="4023360" cy="98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sz="1150" b="0" i="0" dirty="0" err="1">
                    <a:solidFill>
                      <a:srgbClr val="545C65"/>
                    </a:solidFill>
                    <a:latin typeface="Aptos"/>
                  </a:rPr>
                  <a:t>Cantidad</a:t>
                </a:r>
                <a:r>
                  <a:rPr sz="1150" b="0" i="0" dirty="0">
                    <a:solidFill>
                      <a:srgbClr val="545C65"/>
                    </a:solidFill>
                    <a:latin typeface="Aptos"/>
                  </a:rPr>
                  <a:t> de </a:t>
                </a:r>
                <a:r>
                  <a:rPr sz="1150" b="0" i="0" dirty="0" err="1">
                    <a:solidFill>
                      <a:srgbClr val="545C65"/>
                    </a:solidFill>
                    <a:latin typeface="Aptos"/>
                  </a:rPr>
                  <a:t>siniestros</a:t>
                </a:r>
                <a:r>
                  <a:rPr sz="1150" b="0" i="0" dirty="0">
                    <a:solidFill>
                      <a:srgbClr val="545C65"/>
                    </a:solidFill>
                    <a:latin typeface="Aptos"/>
                  </a:rPr>
                  <a:t> de la </a:t>
                </a:r>
                <a:r>
                  <a:rPr sz="1150" b="0" i="0" dirty="0" err="1">
                    <a:solidFill>
                      <a:srgbClr val="545C65"/>
                    </a:solidFill>
                    <a:latin typeface="Aptos"/>
                  </a:rPr>
                  <a:t>esquina</a:t>
                </a:r>
                <a:r>
                  <a:rPr sz="1150" b="0" i="0" dirty="0">
                    <a:solidFill>
                      <a:srgbClr val="545C65"/>
                    </a:solidFill>
                    <a:latin typeface="Aptos"/>
                  </a:rPr>
                  <a:t>, </a:t>
                </a:r>
                <a:r>
                  <a:rPr sz="1150" b="0" i="0" dirty="0" err="1">
                    <a:solidFill>
                      <a:srgbClr val="545C65"/>
                    </a:solidFill>
                    <a:latin typeface="Aptos"/>
                  </a:rPr>
                  <a:t>relativa</a:t>
                </a:r>
                <a:r>
                  <a:rPr sz="1150" b="0" i="0" dirty="0">
                    <a:solidFill>
                      <a:srgbClr val="545C65"/>
                    </a:solidFill>
                    <a:latin typeface="Aptos"/>
                  </a:rPr>
                  <a:t> al </a:t>
                </a:r>
                <a:r>
                  <a:rPr sz="1150" b="0" i="0" dirty="0" err="1">
                    <a:solidFill>
                      <a:srgbClr val="545C65"/>
                    </a:solidFill>
                    <a:latin typeface="Aptos"/>
                  </a:rPr>
                  <a:t>máximo</a:t>
                </a:r>
                <a:r>
                  <a:rPr sz="1150" b="0" i="0" dirty="0">
                    <a:solidFill>
                      <a:srgbClr val="545C65"/>
                    </a:solidFill>
                    <a:latin typeface="Aptos"/>
                  </a:rPr>
                  <a:t> </a:t>
                </a:r>
                <a:r>
                  <a:rPr sz="1150" b="0" i="0" dirty="0" err="1">
                    <a:solidFill>
                      <a:srgbClr val="545C65"/>
                    </a:solidFill>
                    <a:latin typeface="Aptos"/>
                  </a:rPr>
                  <a:t>observado</a:t>
                </a:r>
                <a:r>
                  <a:rPr sz="1150" b="0" i="0" dirty="0">
                    <a:solidFill>
                      <a:srgbClr val="545C65"/>
                    </a:solidFill>
                    <a:latin typeface="Aptos"/>
                  </a:rPr>
                  <a:t> en la ciudad</a:t>
                </a:r>
                <a:r>
                  <a:rPr sz="1150" b="0" i="0" dirty="0" smtClean="0">
                    <a:solidFill>
                      <a:srgbClr val="545C65"/>
                    </a:solidFill>
                    <a:latin typeface="Aptos"/>
                  </a:rPr>
                  <a:t>.</a:t>
                </a:r>
                <a:endParaRPr lang="es-ES" sz="1150" b="0" i="0" dirty="0" smtClean="0">
                  <a:solidFill>
                    <a:srgbClr val="545C65"/>
                  </a:solidFill>
                  <a:latin typeface="Aptos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1500" i="1">
                              <a:solidFill>
                                <a:srgbClr val="545C65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sz="1500">
                              <a:solidFill>
                                <a:srgbClr val="545C65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s-AR" sz="1500">
                              <a:solidFill>
                                <a:srgbClr val="545C65"/>
                              </a:solidFill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s-AR" sz="1500">
                          <a:solidFill>
                            <a:srgbClr val="545C65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sz="1500" i="1">
                              <a:solidFill>
                                <a:srgbClr val="545C65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sz="1500" i="1">
                                  <a:solidFill>
                                    <a:srgbClr val="545C65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sz="1500">
                                  <a:solidFill>
                                    <a:srgbClr val="545C65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s-AR" sz="1500">
                                  <a:solidFill>
                                    <a:srgbClr val="545C65"/>
                                  </a:solidFill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s-AR" sz="1500" i="1">
                                  <a:solidFill>
                                    <a:srgbClr val="545C65"/>
                                  </a:solidFill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AR" sz="1500">
                                  <a:solidFill>
                                    <a:srgbClr val="545C65"/>
                                  </a:solidFill>
                                  <a:latin typeface="Cambria Math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s-AR" sz="1500" i="1">
                                      <a:solidFill>
                                        <a:srgbClr val="545C65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AR" sz="1500">
                                      <a:solidFill>
                                        <a:srgbClr val="545C65"/>
                                      </a:solidFill>
                                      <a:latin typeface="Cambria Math"/>
                                    </a:rPr>
                                    <m:t>𝑁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sz="1500" dirty="0">
                  <a:solidFill>
                    <a:srgbClr val="545C65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167" y="3017520"/>
                <a:ext cx="4023360" cy="982577"/>
              </a:xfrm>
              <a:prstGeom prst="rect">
                <a:avLst/>
              </a:prstGeom>
              <a:blipFill rotWithShape="1">
                <a:blip r:embed="rId3"/>
                <a:stretch>
                  <a:fillRect l="-2121" t="-310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224575" y="2514600"/>
            <a:ext cx="6400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D40E25"/>
                </a:solidFill>
                <a:latin typeface="Gotham Medium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1814" y="2514600"/>
            <a:ext cx="5611066" cy="1755328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 w="12700">
            <a:solidFill>
              <a:srgbClr val="1D4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30415" y="265176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370"/>
                </a:solidFill>
                <a:latin typeface="Gotham Medium"/>
              </a:rPr>
              <a:t>Tasa normalizada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230414" y="2931780"/>
                <a:ext cx="5382466" cy="108036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sz="1150" b="0" i="0" dirty="0" smtClean="0">
                    <a:solidFill>
                      <a:srgbClr val="545C65"/>
                    </a:solidFill>
                    <a:latin typeface="Aptos"/>
                  </a:rPr>
                  <a:t>Siniestros</a:t>
                </a:r>
                <a:r>
                  <a:rPr sz="1150" b="0" i="0" dirty="0">
                    <a:solidFill>
                      <a:srgbClr val="545C65"/>
                    </a:solidFill>
                    <a:latin typeface="Aptos"/>
                  </a:rPr>
                  <a:t> </a:t>
                </a:r>
                <a:r>
                  <a:rPr sz="1150" b="0" i="0" dirty="0" err="1">
                    <a:solidFill>
                      <a:srgbClr val="545C65"/>
                    </a:solidFill>
                    <a:latin typeface="Aptos"/>
                  </a:rPr>
                  <a:t>ponderados</a:t>
                </a:r>
                <a:r>
                  <a:rPr sz="1150" b="0" i="0" dirty="0">
                    <a:solidFill>
                      <a:srgbClr val="545C65"/>
                    </a:solidFill>
                    <a:latin typeface="Aptos"/>
                  </a:rPr>
                  <a:t> </a:t>
                </a:r>
                <a:r>
                  <a:rPr sz="1150" b="0" i="0" dirty="0" err="1">
                    <a:solidFill>
                      <a:srgbClr val="545C65"/>
                    </a:solidFill>
                    <a:latin typeface="Aptos"/>
                  </a:rPr>
                  <a:t>por</a:t>
                </a:r>
                <a:r>
                  <a:rPr sz="1150" b="0" i="0" dirty="0">
                    <a:solidFill>
                      <a:srgbClr val="545C65"/>
                    </a:solidFill>
                    <a:latin typeface="Aptos"/>
                  </a:rPr>
                  <a:t> </a:t>
                </a:r>
                <a:r>
                  <a:rPr sz="1150" b="0" i="0" dirty="0" err="1">
                    <a:solidFill>
                      <a:srgbClr val="545C65"/>
                    </a:solidFill>
                    <a:latin typeface="Aptos"/>
                  </a:rPr>
                  <a:t>gravedad</a:t>
                </a:r>
                <a:r>
                  <a:rPr sz="1150" b="0" i="0" dirty="0">
                    <a:solidFill>
                      <a:srgbClr val="545C65"/>
                    </a:solidFill>
                    <a:latin typeface="Aptos"/>
                  </a:rPr>
                  <a:t>, </a:t>
                </a:r>
                <a:r>
                  <a:rPr sz="1150" b="0" i="0" dirty="0" err="1">
                    <a:solidFill>
                      <a:srgbClr val="545C65"/>
                    </a:solidFill>
                    <a:latin typeface="Aptos"/>
                  </a:rPr>
                  <a:t>por</a:t>
                </a:r>
                <a:r>
                  <a:rPr sz="1150" b="0" i="0" dirty="0">
                    <a:solidFill>
                      <a:srgbClr val="545C65"/>
                    </a:solidFill>
                    <a:latin typeface="Aptos"/>
                  </a:rPr>
                  <a:t> </a:t>
                </a:r>
                <a:r>
                  <a:rPr sz="1150" b="0" i="0" dirty="0" err="1">
                    <a:solidFill>
                      <a:srgbClr val="545C65"/>
                    </a:solidFill>
                    <a:latin typeface="Aptos"/>
                  </a:rPr>
                  <a:t>millón</a:t>
                </a:r>
                <a:r>
                  <a:rPr sz="1150" b="0" i="0" dirty="0">
                    <a:solidFill>
                      <a:srgbClr val="545C65"/>
                    </a:solidFill>
                    <a:latin typeface="Aptos"/>
                  </a:rPr>
                  <a:t> de </a:t>
                </a:r>
                <a:r>
                  <a:rPr sz="1150" b="0" i="0" dirty="0" err="1" smtClean="0">
                    <a:solidFill>
                      <a:srgbClr val="545C65"/>
                    </a:solidFill>
                    <a:latin typeface="Aptos"/>
                  </a:rPr>
                  <a:t>vehículos</a:t>
                </a:r>
                <a:r>
                  <a:rPr lang="es-ES" sz="1150" b="0" i="0" dirty="0" smtClean="0">
                    <a:solidFill>
                      <a:srgbClr val="545C65"/>
                    </a:solidFill>
                    <a:latin typeface="Aptos"/>
                  </a:rPr>
                  <a:t>, afectado por el flujo vehicular</a:t>
                </a:r>
                <a:r>
                  <a:rPr sz="1150" b="0" i="0" dirty="0" smtClean="0">
                    <a:solidFill>
                      <a:srgbClr val="545C65"/>
                    </a:solidFill>
                    <a:latin typeface="Aptos"/>
                  </a:rPr>
                  <a:t>: </a:t>
                </a:r>
                <a:endParaRPr lang="es-ES" sz="1150" b="0" i="0" dirty="0" smtClean="0">
                  <a:solidFill>
                    <a:srgbClr val="545C65"/>
                  </a:solidFill>
                  <a:latin typeface="Aptos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sz="1150" b="0" i="0" dirty="0" err="1" smtClean="0">
                    <a:solidFill>
                      <a:srgbClr val="545C65"/>
                    </a:solidFill>
                    <a:latin typeface="Aptos"/>
                  </a:rPr>
                  <a:t>nuestra</a:t>
                </a:r>
                <a:r>
                  <a:rPr sz="1150" b="0" i="0" dirty="0" smtClean="0">
                    <a:solidFill>
                      <a:srgbClr val="545C65"/>
                    </a:solidFill>
                    <a:latin typeface="Aptos"/>
                  </a:rPr>
                  <a:t> </a:t>
                </a:r>
                <a:r>
                  <a:rPr sz="1150" b="0" i="0" dirty="0" err="1">
                    <a:solidFill>
                      <a:srgbClr val="545C65"/>
                    </a:solidFill>
                    <a:latin typeface="Aptos"/>
                  </a:rPr>
                  <a:t>Esquina</a:t>
                </a:r>
                <a:r>
                  <a:rPr sz="1150" b="0" i="0" dirty="0">
                    <a:solidFill>
                      <a:srgbClr val="545C65"/>
                    </a:solidFill>
                    <a:latin typeface="Aptos"/>
                  </a:rPr>
                  <a:t> A vs. </a:t>
                </a:r>
                <a:r>
                  <a:rPr sz="1150" b="0" i="0" dirty="0" err="1">
                    <a:solidFill>
                      <a:srgbClr val="545C65"/>
                    </a:solidFill>
                    <a:latin typeface="Aptos"/>
                  </a:rPr>
                  <a:t>Esquina</a:t>
                </a:r>
                <a:r>
                  <a:rPr sz="1150" b="0" i="0" dirty="0">
                    <a:solidFill>
                      <a:srgbClr val="545C65"/>
                    </a:solidFill>
                    <a:latin typeface="Aptos"/>
                  </a:rPr>
                  <a:t> B</a:t>
                </a:r>
                <a:r>
                  <a:rPr sz="1150" b="0" i="0" dirty="0" smtClean="0">
                    <a:solidFill>
                      <a:srgbClr val="545C65"/>
                    </a:solidFill>
                    <a:latin typeface="Aptos"/>
                  </a:rPr>
                  <a:t>.</a:t>
                </a:r>
                <a:endParaRPr lang="es-ES" sz="1150" b="0" i="0" dirty="0" smtClean="0">
                  <a:solidFill>
                    <a:srgbClr val="545C65"/>
                  </a:solidFill>
                  <a:latin typeface="Aptos"/>
                </a:endParaRPr>
              </a:p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sz="1500" i="1">
                            <a:solidFill>
                              <a:srgbClr val="545C6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s-AR" sz="1500">
                        <a:solidFill>
                          <a:srgbClr val="545C65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AR" sz="1500" i="1">
                            <a:solidFill>
                              <a:srgbClr val="545C65"/>
                            </a:solidFill>
                            <a:latin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s-AR" sz="1500" i="1">
                                <a:solidFill>
                                  <a:srgbClr val="545C65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AR" sz="1500" i="1">
                                    <a:solidFill>
                                      <a:srgbClr val="545C65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s-AR" sz="1500">
                                    <a:solidFill>
                                      <a:srgbClr val="545C65"/>
                                    </a:solidFill>
                                    <a:latin typeface="Cambria Math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AR" sz="1500">
                                    <a:solidFill>
                                      <a:srgbClr val="545C65"/>
                                    </a:solidFill>
                                    <a:latin typeface="Cambria Math"/>
                                  </a:rPr>
                                  <m:t>𝐷</m:t>
                                </m:r>
                              </m:sub>
                            </m:sSub>
                            <m:r>
                              <a:rPr lang="es-AR" sz="1500">
                                <a:solidFill>
                                  <a:srgbClr val="545C65"/>
                                </a:solidFill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s-AR" sz="1500" i="1">
                                    <a:solidFill>
                                      <a:srgbClr val="545C65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s-AR" sz="1500">
                                    <a:solidFill>
                                      <a:srgbClr val="545C65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  <m:r>
                                  <a:rPr lang="es-AR" sz="1500">
                                    <a:solidFill>
                                      <a:srgbClr val="545C65"/>
                                    </a:solidFill>
                                    <a:latin typeface="Cambria Math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AR" sz="1500">
                                    <a:solidFill>
                                      <a:srgbClr val="545C65"/>
                                    </a:solidFill>
                                    <a:latin typeface="Cambria Math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s-AR" sz="1500">
                                <a:solidFill>
                                  <a:srgbClr val="545C65"/>
                                </a:solidFill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s-AR" sz="1500" i="1">
                                    <a:solidFill>
                                      <a:srgbClr val="545C65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s-AR" sz="1500">
                                    <a:solidFill>
                                      <a:srgbClr val="545C65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  <m:r>
                                  <a:rPr lang="es-AR" sz="1500">
                                    <a:solidFill>
                                      <a:srgbClr val="545C65"/>
                                    </a:solidFill>
                                    <a:latin typeface="Cambria Math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AR" sz="1500">
                                    <a:solidFill>
                                      <a:srgbClr val="545C65"/>
                                    </a:solidFill>
                                    <a:latin typeface="Cambria Math"/>
                                  </a:rPr>
                                  <m:t>𝑉𝐹</m:t>
                                </m:r>
                              </m:sub>
                            </m:sSub>
                          </m:e>
                        </m:d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𝑒𝑛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𝑒𝑙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𝑠𝑖𝑡𝑖𝑜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𝑋</m:t>
                        </m:r>
                      </m:num>
                      <m:den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𝑇𝑜𝑡𝑎𝑙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𝑑𝑒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𝑣𝑒h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í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𝑐𝑢𝑙𝑜𝑠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𝑐𝑖𝑟𝑐𝑢𝑙𝑎𝑑𝑜𝑠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𝑝𝑜𝑟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𝑒𝑙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𝑠𝑖𝑡𝑖𝑜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𝑋</m:t>
                        </m:r>
                      </m:den>
                    </m:f>
                    <m:r>
                      <a:rPr lang="es-AR" sz="1500">
                        <a:solidFill>
                          <a:srgbClr val="545C65"/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s-AR" sz="1500" i="1">
                            <a:solidFill>
                              <a:srgbClr val="545C65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6</m:t>
                        </m:r>
                      </m:sup>
                    </m:sSup>
                  </m:oMath>
                </a14:m>
                <a:r>
                  <a:rPr lang="es-ES" sz="1500" dirty="0">
                    <a:solidFill>
                      <a:srgbClr val="545C65"/>
                    </a:solidFill>
                    <a:latin typeface="Aptos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500" i="1">
                            <a:solidFill>
                              <a:srgbClr val="545C65"/>
                            </a:solidFill>
                            <a:latin typeface="Cambria Math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s-AR" sz="1500" i="1">
                                <a:solidFill>
                                  <a:srgbClr val="545C65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AR" sz="1500">
                                <a:solidFill>
                                  <a:srgbClr val="545C65"/>
                                </a:solidFill>
                                <a:latin typeface="Cambria Math"/>
                              </a:rPr>
                              <m:t>𝑇</m:t>
                            </m:r>
                          </m:e>
                          <m:sup>
                            <m:r>
                              <a:rPr lang="es-AR" sz="1500">
                                <a:solidFill>
                                  <a:srgbClr val="545C65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  <m:sub>
                        <m:r>
                          <a:rPr lang="es-AR" sz="1500">
                            <a:solidFill>
                              <a:srgbClr val="545C65"/>
                            </a:solidFill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s-AR" sz="1500">
                        <a:solidFill>
                          <a:srgbClr val="545C65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AR" sz="1500" i="1">
                            <a:solidFill>
                              <a:srgbClr val="545C65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AR" sz="1500" i="1">
                                <a:solidFill>
                                  <a:srgbClr val="545C65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AR" sz="1500">
                                <a:solidFill>
                                  <a:srgbClr val="545C65"/>
                                </a:solidFill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s-AR" sz="1500">
                                <a:solidFill>
                                  <a:srgbClr val="545C65"/>
                                </a:solidFill>
                                <a:latin typeface="Cambria Math"/>
                              </a:rPr>
                              <m:t>𝑋</m:t>
                            </m:r>
                          </m:sub>
                        </m:sSub>
                      </m:num>
                      <m:den>
                        <m:func>
                          <m:funcPr>
                            <m:ctrlPr>
                              <a:rPr lang="es-AR" sz="1500" i="1">
                                <a:solidFill>
                                  <a:srgbClr val="545C65"/>
                                </a:solidFill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AR" sz="1500">
                                <a:solidFill>
                                  <a:srgbClr val="545C65"/>
                                </a:solidFill>
                                <a:latin typeface="Cambria Math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s-AR" sz="1500" i="1">
                                    <a:solidFill>
                                      <a:srgbClr val="545C65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s-AR" sz="1500">
                                    <a:solidFill>
                                      <a:srgbClr val="545C65"/>
                                    </a:solidFill>
                                    <a:latin typeface="Cambria Math"/>
                                  </a:rPr>
                                  <m:t>𝑇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sz="1500" dirty="0">
                  <a:solidFill>
                    <a:srgbClr val="545C65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414" y="2931780"/>
                <a:ext cx="5382466" cy="1080360"/>
              </a:xfrm>
              <a:prstGeom prst="rect">
                <a:avLst/>
              </a:prstGeom>
              <a:blipFill rotWithShape="1">
                <a:blip r:embed="rId4"/>
                <a:stretch>
                  <a:fillRect l="-1586" t="-3390" r="-793" b="-282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12"/>
          <p:cNvSpPr/>
          <p:nvPr/>
        </p:nvSpPr>
        <p:spPr>
          <a:xfrm rot="5400000">
            <a:off x="5394960" y="4338509"/>
            <a:ext cx="304800" cy="16764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4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507359" y="4742766"/>
            <a:ext cx="6074512" cy="1334183"/>
          </a:xfrm>
          <a:prstGeom prst="roundRect">
            <a:avLst>
              <a:gd name="adj" fmla="val 6000"/>
            </a:avLst>
          </a:prstGeom>
          <a:solidFill>
            <a:srgbClr val="132A4D"/>
          </a:solidFill>
          <a:ln w="12700">
            <a:solidFill>
              <a:srgbClr val="13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507359" y="4982464"/>
                <a:ext cx="6074512" cy="85478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b="1" i="0" dirty="0" err="1">
                    <a:solidFill>
                      <a:srgbClr val="FFFFFF"/>
                    </a:solidFill>
                    <a:latin typeface="Gotham Medium"/>
                  </a:rPr>
                  <a:t>Número</a:t>
                </a:r>
                <a:r>
                  <a:rPr b="1" i="0" dirty="0">
                    <a:solidFill>
                      <a:srgbClr val="FFFFFF"/>
                    </a:solidFill>
                    <a:latin typeface="Gotham Medium"/>
                  </a:rPr>
                  <a:t> </a:t>
                </a:r>
                <a:r>
                  <a:rPr b="1" i="0" dirty="0" err="1">
                    <a:solidFill>
                      <a:srgbClr val="FFFFFF"/>
                    </a:solidFill>
                    <a:latin typeface="Gotham Medium"/>
                  </a:rPr>
                  <a:t>índice</a:t>
                </a:r>
                <a:r>
                  <a:rPr b="1" i="0" dirty="0">
                    <a:solidFill>
                      <a:srgbClr val="FFFFFF"/>
                    </a:solidFill>
                    <a:latin typeface="Gotham Medium"/>
                  </a:rPr>
                  <a:t> de </a:t>
                </a:r>
                <a:r>
                  <a:rPr b="1" i="0" dirty="0" err="1" smtClean="0">
                    <a:solidFill>
                      <a:srgbClr val="FFFFFF"/>
                    </a:solidFill>
                    <a:latin typeface="Gotham Medium"/>
                  </a:rPr>
                  <a:t>peligrosidad</a:t>
                </a:r>
                <a:endParaRPr lang="es-ES" b="1" i="0" dirty="0" smtClean="0">
                  <a:solidFill>
                    <a:srgbClr val="FFFFFF"/>
                  </a:solidFill>
                  <a:latin typeface="Gotham Medium"/>
                </a:endParaRPr>
              </a:p>
              <a:p>
                <a:pPr algn="ctr">
                  <a:lnSpc>
                    <a:spcPct val="100000"/>
                  </a:lnSpc>
                </a:pPr>
                <a:endParaRPr lang="es-ES" b="1" i="0" dirty="0" smtClean="0">
                  <a:solidFill>
                    <a:srgbClr val="FFFFFF"/>
                  </a:solidFill>
                  <a:latin typeface="Gotham Medium"/>
                </a:endParaRPr>
              </a:p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b="1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1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s-AR" b="1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𝑵</m:t>
                          </m:r>
                          <m:sSub>
                            <m:sSubPr>
                              <m:ctrlPr>
                                <a:rPr lang="es-AR" b="1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b="1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s-AR" b="1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𝑿</m:t>
                              </m:r>
                            </m:sub>
                          </m:sSub>
                        </m:sub>
                      </m:sSub>
                      <m:r>
                        <a:rPr lang="es-AR" b="1" i="1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r>
                        <a:rPr lang="es-AR" b="1" i="1">
                          <a:solidFill>
                            <a:schemeClr val="bg1"/>
                          </a:solidFill>
                          <a:latin typeface="Cambria Math"/>
                        </a:rPr>
                        <m:t>𝟎</m:t>
                      </m:r>
                      <m:r>
                        <a:rPr lang="es-AR" b="1" i="1">
                          <a:solidFill>
                            <a:schemeClr val="bg1"/>
                          </a:solidFill>
                          <a:latin typeface="Cambria Math"/>
                        </a:rPr>
                        <m:t>,</m:t>
                      </m:r>
                      <m:r>
                        <a:rPr lang="es-AR" b="1" i="1">
                          <a:solidFill>
                            <a:schemeClr val="bg1"/>
                          </a:solidFill>
                          <a:latin typeface="Cambria Math"/>
                        </a:rPr>
                        <m:t>𝟑</m:t>
                      </m:r>
                      <m:r>
                        <a:rPr lang="es-AR" b="1" i="1">
                          <a:solidFill>
                            <a:schemeClr val="bg1"/>
                          </a:solidFill>
                          <a:latin typeface="Cambria Math"/>
                        </a:rPr>
                        <m:t>×</m:t>
                      </m:r>
                      <m:sSub>
                        <m:sSubPr>
                          <m:ctrlPr>
                            <a:rPr lang="es-AR" b="1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1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s-AR" b="1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𝑿</m:t>
                          </m:r>
                        </m:sub>
                      </m:sSub>
                      <m:r>
                        <a:rPr lang="es-AR" b="1" i="1">
                          <a:solidFill>
                            <a:schemeClr val="bg1"/>
                          </a:solidFill>
                          <a:latin typeface="Cambria Math"/>
                        </a:rPr>
                        <m:t>+</m:t>
                      </m:r>
                      <m:r>
                        <a:rPr lang="es-AR" b="1" i="1">
                          <a:solidFill>
                            <a:schemeClr val="bg1"/>
                          </a:solidFill>
                          <a:latin typeface="Cambria Math"/>
                        </a:rPr>
                        <m:t>𝟎</m:t>
                      </m:r>
                      <m:r>
                        <a:rPr lang="es-AR" b="1" i="1">
                          <a:solidFill>
                            <a:schemeClr val="bg1"/>
                          </a:solidFill>
                          <a:latin typeface="Cambria Math"/>
                        </a:rPr>
                        <m:t>,</m:t>
                      </m:r>
                      <m:r>
                        <a:rPr lang="es-AR" b="1" i="1">
                          <a:solidFill>
                            <a:schemeClr val="bg1"/>
                          </a:solidFill>
                          <a:latin typeface="Cambria Math"/>
                        </a:rPr>
                        <m:t>𝟕</m:t>
                      </m:r>
                      <m:r>
                        <a:rPr lang="es-AR" b="1" i="1">
                          <a:solidFill>
                            <a:schemeClr val="bg1"/>
                          </a:solidFill>
                          <a:latin typeface="Cambria Math"/>
                        </a:rPr>
                        <m:t>×</m:t>
                      </m:r>
                      <m:sSub>
                        <m:sSubPr>
                          <m:ctrlPr>
                            <a:rPr lang="es-AR" b="1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s-AR" b="1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s-AR" b="1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𝑻</m:t>
                              </m:r>
                            </m:e>
                            <m:sup>
                              <m:r>
                                <a:rPr lang="es-AR" b="1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es-AR" b="1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𝑿</m:t>
                          </m:r>
                        </m:sub>
                      </m:sSub>
                    </m:oMath>
                  </m:oMathPara>
                </a14:m>
                <a:endParaRPr b="1" i="1" dirty="0">
                  <a:solidFill>
                    <a:srgbClr val="FFFFFF"/>
                  </a:solidFill>
                  <a:latin typeface="Gotham Medium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359" y="4982464"/>
                <a:ext cx="6074512" cy="854786"/>
              </a:xfrm>
              <a:prstGeom prst="rect">
                <a:avLst/>
              </a:prstGeom>
              <a:blipFill rotWithShape="1">
                <a:blip r:embed="rId5"/>
                <a:stretch>
                  <a:fillRect t="-7801" b="-567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11155680" y="6537960"/>
            <a:ext cx="457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sz="900" b="0" i="0" dirty="0" smtClean="0">
                <a:solidFill>
                  <a:srgbClr val="545C65"/>
                </a:solidFill>
                <a:latin typeface="Aptos"/>
              </a:rPr>
              <a:t>8</a:t>
            </a:r>
            <a:endParaRPr sz="900" b="0" i="0" dirty="0">
              <a:solidFill>
                <a:srgbClr val="545C6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6397698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="" xmlns:a16="http://schemas.microsoft.com/office/drawing/2014/main" id="{48051C4E-A246-9B4E-D593-21C3D257E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192" y="1170432"/>
            <a:ext cx="104241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ES" sz="2800" b="1" i="0" dirty="0" smtClean="0">
                <a:solidFill>
                  <a:srgbClr val="132A4D"/>
                </a:solidFill>
                <a:latin typeface="Gotham Medium"/>
              </a:rPr>
              <a:t>¿</a:t>
            </a:r>
            <a:r>
              <a:rPr sz="2800" b="1" i="0" dirty="0" err="1" smtClean="0">
                <a:solidFill>
                  <a:srgbClr val="132A4D"/>
                </a:solidFill>
                <a:latin typeface="Gotham Medium"/>
              </a:rPr>
              <a:t>Dónde</a:t>
            </a:r>
            <a:r>
              <a:rPr sz="2800" b="1" i="0" dirty="0" smtClean="0">
                <a:solidFill>
                  <a:srgbClr val="132A4D"/>
                </a:solidFill>
                <a:latin typeface="Gotham Medium"/>
              </a:rPr>
              <a:t> </a:t>
            </a:r>
            <a:r>
              <a:rPr sz="2800" b="1" i="0" dirty="0">
                <a:solidFill>
                  <a:srgbClr val="132A4D"/>
                </a:solidFill>
                <a:latin typeface="Gotham Medium"/>
              </a:rPr>
              <a:t>se </a:t>
            </a:r>
            <a:r>
              <a:rPr sz="2800" b="1" i="0" dirty="0" err="1">
                <a:solidFill>
                  <a:srgbClr val="132A4D"/>
                </a:solidFill>
                <a:latin typeface="Gotham Medium"/>
              </a:rPr>
              <a:t>concentra</a:t>
            </a:r>
            <a:r>
              <a:rPr sz="2800" b="1" i="0" dirty="0">
                <a:solidFill>
                  <a:srgbClr val="132A4D"/>
                </a:solidFill>
                <a:latin typeface="Gotham Medium"/>
              </a:rPr>
              <a:t> la </a:t>
            </a:r>
            <a:r>
              <a:rPr sz="2800" b="1" i="0" dirty="0" err="1" smtClean="0">
                <a:solidFill>
                  <a:srgbClr val="132A4D"/>
                </a:solidFill>
                <a:latin typeface="Gotham Medium"/>
              </a:rPr>
              <a:t>siniestralidad</a:t>
            </a:r>
            <a:r>
              <a:rPr lang="es-ES" sz="2800" b="1" i="0" dirty="0" smtClean="0">
                <a:solidFill>
                  <a:srgbClr val="132A4D"/>
                </a:solidFill>
                <a:latin typeface="Gotham Medium"/>
              </a:rPr>
              <a:t>?</a:t>
            </a:r>
            <a:endParaRPr sz="2800" b="1" i="0" dirty="0">
              <a:solidFill>
                <a:srgbClr val="132A4D"/>
              </a:solidFill>
              <a:latin typeface="Gotham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126774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 dirty="0" err="1">
                <a:solidFill>
                  <a:srgbClr val="545C65"/>
                </a:solidFill>
                <a:latin typeface="Aptos"/>
              </a:rPr>
              <a:t>Mapa</a:t>
            </a:r>
            <a:r>
              <a:rPr sz="1000" b="0" i="1" dirty="0">
                <a:solidFill>
                  <a:srgbClr val="545C65"/>
                </a:solidFill>
                <a:latin typeface="Aptos"/>
              </a:rPr>
              <a:t> de </a:t>
            </a:r>
            <a:r>
              <a:rPr sz="1000" b="0" i="1" dirty="0" err="1">
                <a:solidFill>
                  <a:srgbClr val="545C65"/>
                </a:solidFill>
                <a:latin typeface="Aptos"/>
              </a:rPr>
              <a:t>densidad</a:t>
            </a:r>
            <a:r>
              <a:rPr sz="1000" b="0" i="1" dirty="0">
                <a:solidFill>
                  <a:srgbClr val="545C65"/>
                </a:solidFill>
                <a:latin typeface="Aptos"/>
              </a:rPr>
              <a:t> (KDE) de </a:t>
            </a:r>
            <a:r>
              <a:rPr sz="1000" b="0" i="1" dirty="0" err="1">
                <a:solidFill>
                  <a:srgbClr val="545C65"/>
                </a:solidFill>
                <a:latin typeface="Aptos"/>
              </a:rPr>
              <a:t>siniestros</a:t>
            </a:r>
            <a:r>
              <a:rPr sz="1000" b="0" i="1" dirty="0">
                <a:solidFill>
                  <a:srgbClr val="545C65"/>
                </a:solidFill>
                <a:latin typeface="Aptos"/>
              </a:rPr>
              <a:t> con </a:t>
            </a:r>
            <a:r>
              <a:rPr sz="1000" b="0" i="1" dirty="0" err="1">
                <a:solidFill>
                  <a:srgbClr val="545C65"/>
                </a:solidFill>
                <a:latin typeface="Aptos"/>
              </a:rPr>
              <a:t>lesionados</a:t>
            </a:r>
            <a:r>
              <a:rPr sz="1000" b="0" i="1" dirty="0">
                <a:solidFill>
                  <a:srgbClr val="545C65"/>
                </a:solidFill>
                <a:latin typeface="Aptos"/>
              </a:rPr>
              <a:t> — SIES, Rosario 2024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245292"/>
              </p:ext>
            </p:extLst>
          </p:nvPr>
        </p:nvGraphicFramePr>
        <p:xfrm>
          <a:off x="5781822" y="1946032"/>
          <a:ext cx="5373858" cy="3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1230"/>
                <a:gridCol w="2141416"/>
                <a:gridCol w="1591212"/>
              </a:tblGrid>
              <a:tr h="394197"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FFFFFF"/>
                          </a:solidFill>
                          <a:latin typeface="Gotham Medium"/>
                        </a:rPr>
                        <a:t>Distrito</a:t>
                      </a:r>
                    </a:p>
                  </a:txBody>
                  <a:tcPr marL="76200" marR="76200" anchor="ctr">
                    <a:solidFill>
                      <a:srgbClr val="132A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Gotham Medium"/>
                        </a:rPr>
                        <a:t>Siniestros</a:t>
                      </a:r>
                    </a:p>
                  </a:txBody>
                  <a:tcPr marL="76200" marR="76200" anchor="ctr">
                    <a:solidFill>
                      <a:srgbClr val="132A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Gotham Medium"/>
                        </a:rPr>
                        <a:t>%</a:t>
                      </a:r>
                    </a:p>
                  </a:txBody>
                  <a:tcPr marL="76200" marR="76200" anchor="ctr">
                    <a:solidFill>
                      <a:srgbClr val="132A4D"/>
                    </a:solidFill>
                  </a:tcPr>
                </a:tc>
              </a:tr>
              <a:tr h="45428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1D4370"/>
                          </a:solidFill>
                          <a:latin typeface="Aptos"/>
                        </a:rPr>
                        <a:t>Centro</a:t>
                      </a:r>
                    </a:p>
                  </a:txBody>
                  <a:tcPr marL="76200" marR="76200" anchor="ctr">
                    <a:solidFill>
                      <a:srgbClr val="F6E9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D4370"/>
                          </a:solidFill>
                          <a:latin typeface="Aptos"/>
                        </a:rPr>
                        <a:t>2.491</a:t>
                      </a:r>
                    </a:p>
                  </a:txBody>
                  <a:tcPr marL="76200" marR="76200" anchor="ctr">
                    <a:solidFill>
                      <a:srgbClr val="F6E9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D4370"/>
                          </a:solidFill>
                          <a:latin typeface="Aptos"/>
                        </a:rPr>
                        <a:t>32,0%</a:t>
                      </a:r>
                    </a:p>
                  </a:txBody>
                  <a:tcPr marL="76200" marR="76200" anchor="ctr">
                    <a:solidFill>
                      <a:srgbClr val="F6E9EA"/>
                    </a:solidFill>
                  </a:tcPr>
                </a:tc>
              </a:tr>
              <a:tr h="454280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545C65"/>
                          </a:solidFill>
                          <a:latin typeface="Aptos"/>
                        </a:rPr>
                        <a:t>Noroeste</a:t>
                      </a:r>
                      <a:endParaRPr sz="1200" b="0" i="0" dirty="0">
                        <a:solidFill>
                          <a:srgbClr val="545C65"/>
                        </a:solidFill>
                        <a:latin typeface="Aptos"/>
                      </a:endParaRPr>
                    </a:p>
                  </a:txBody>
                  <a:tcPr marL="76200" marR="7620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45C65"/>
                          </a:solidFill>
                          <a:latin typeface="Aptos"/>
                        </a:rPr>
                        <a:t>1.239</a:t>
                      </a:r>
                    </a:p>
                  </a:txBody>
                  <a:tcPr marL="76200" marR="7620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45C65"/>
                          </a:solidFill>
                          <a:latin typeface="Aptos"/>
                        </a:rPr>
                        <a:t>15,9%</a:t>
                      </a:r>
                    </a:p>
                  </a:txBody>
                  <a:tcPr marL="76200" marR="76200" anchor="ctr">
                    <a:solidFill>
                      <a:srgbClr val="EFF3F7"/>
                    </a:solidFill>
                  </a:tcPr>
                </a:tc>
              </a:tr>
              <a:tr h="454280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545C65"/>
                          </a:solidFill>
                          <a:latin typeface="Aptos"/>
                        </a:rPr>
                        <a:t>Oeste</a:t>
                      </a:r>
                      <a:endParaRPr sz="1200" b="0" i="0" dirty="0">
                        <a:solidFill>
                          <a:srgbClr val="545C65"/>
                        </a:solidFill>
                        <a:latin typeface="Aptos"/>
                      </a:endParaRP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45C65"/>
                          </a:solidFill>
                          <a:latin typeface="Aptos"/>
                        </a:rPr>
                        <a:t>1.066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45C65"/>
                          </a:solidFill>
                          <a:latin typeface="Aptos"/>
                        </a:rPr>
                        <a:t>13,7%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</a:tr>
              <a:tr h="454280"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545C65"/>
                          </a:solidFill>
                          <a:latin typeface="Aptos"/>
                        </a:rPr>
                        <a:t>Sur</a:t>
                      </a:r>
                    </a:p>
                  </a:txBody>
                  <a:tcPr marL="76200" marR="7620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45C65"/>
                          </a:solidFill>
                          <a:latin typeface="Aptos"/>
                        </a:rPr>
                        <a:t>1.039</a:t>
                      </a:r>
                    </a:p>
                  </a:txBody>
                  <a:tcPr marL="76200" marR="7620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45C65"/>
                          </a:solidFill>
                          <a:latin typeface="Aptos"/>
                        </a:rPr>
                        <a:t>13,3%</a:t>
                      </a:r>
                    </a:p>
                  </a:txBody>
                  <a:tcPr marL="76200" marR="76200" anchor="ctr">
                    <a:solidFill>
                      <a:srgbClr val="EFF3F7"/>
                    </a:solidFill>
                  </a:tcPr>
                </a:tc>
              </a:tr>
              <a:tr h="454280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545C65"/>
                          </a:solidFill>
                          <a:latin typeface="Aptos"/>
                        </a:rPr>
                        <a:t>Sudoeste</a:t>
                      </a:r>
                      <a:endParaRPr sz="1200" b="0" i="0" dirty="0">
                        <a:solidFill>
                          <a:srgbClr val="545C65"/>
                        </a:solidFill>
                        <a:latin typeface="Aptos"/>
                      </a:endParaRP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45C65"/>
                          </a:solidFill>
                          <a:latin typeface="Aptos"/>
                        </a:rPr>
                        <a:t>979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45C65"/>
                          </a:solidFill>
                          <a:latin typeface="Aptos"/>
                        </a:rPr>
                        <a:t>12,6%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</a:tr>
              <a:tr h="454283"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545C65"/>
                          </a:solidFill>
                          <a:latin typeface="Aptos"/>
                        </a:rPr>
                        <a:t>Norte</a:t>
                      </a:r>
                    </a:p>
                  </a:txBody>
                  <a:tcPr marL="76200" marR="7620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45C65"/>
                          </a:solidFill>
                          <a:latin typeface="Aptos"/>
                        </a:rPr>
                        <a:t>976</a:t>
                      </a:r>
                    </a:p>
                  </a:txBody>
                  <a:tcPr marL="76200" marR="7620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545C65"/>
                          </a:solidFill>
                          <a:latin typeface="Aptos"/>
                        </a:rPr>
                        <a:t>12,5%</a:t>
                      </a:r>
                    </a:p>
                  </a:txBody>
                  <a:tcPr marL="76200" marR="7620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155680" y="6537960"/>
            <a:ext cx="457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sz="900" b="0" i="0" dirty="0" smtClean="0">
                <a:solidFill>
                  <a:srgbClr val="545C65"/>
                </a:solidFill>
                <a:latin typeface="Aptos"/>
              </a:rPr>
              <a:t>9</a:t>
            </a:r>
            <a:endParaRPr sz="900" b="0" i="0" dirty="0">
              <a:solidFill>
                <a:srgbClr val="545C65"/>
              </a:solidFill>
              <a:latin typeface="Aptos"/>
            </a:endParaRPr>
          </a:p>
        </p:txBody>
      </p:sp>
      <p:pic>
        <p:nvPicPr>
          <p:cNvPr id="5" name="4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3" t="15139" r="1477" b="15139"/>
          <a:stretch/>
        </p:blipFill>
        <p:spPr>
          <a:xfrm>
            <a:off x="907964" y="1809750"/>
            <a:ext cx="4134571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698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="" xmlns:a16="http://schemas.microsoft.com/office/drawing/2014/main" id="{48051C4E-A246-9B4E-D593-21C3D257E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192" y="1170432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>
                <a:solidFill>
                  <a:srgbClr val="132A4D"/>
                </a:solidFill>
                <a:latin typeface="Gotham Medium"/>
              </a:rPr>
              <a:t>Las </a:t>
            </a:r>
            <a:r>
              <a:rPr sz="2800" b="1" i="0" dirty="0" err="1">
                <a:solidFill>
                  <a:srgbClr val="132A4D"/>
                </a:solidFill>
                <a:latin typeface="Gotham Medium"/>
              </a:rPr>
              <a:t>esquinas</a:t>
            </a:r>
            <a:r>
              <a:rPr sz="2800" b="1" i="0" dirty="0">
                <a:solidFill>
                  <a:srgbClr val="132A4D"/>
                </a:solidFill>
                <a:latin typeface="Gotham Medium"/>
              </a:rPr>
              <a:t> </a:t>
            </a:r>
            <a:r>
              <a:rPr sz="2800" b="1" i="0" dirty="0" err="1">
                <a:solidFill>
                  <a:srgbClr val="132A4D"/>
                </a:solidFill>
                <a:latin typeface="Gotham Medium"/>
              </a:rPr>
              <a:t>más</a:t>
            </a:r>
            <a:r>
              <a:rPr sz="2800" b="1" i="0" dirty="0">
                <a:solidFill>
                  <a:srgbClr val="132A4D"/>
                </a:solidFill>
                <a:latin typeface="Gotham Medium"/>
              </a:rPr>
              <a:t> </a:t>
            </a:r>
            <a:r>
              <a:rPr sz="2800" b="1" i="0" dirty="0" err="1">
                <a:solidFill>
                  <a:srgbClr val="132A4D"/>
                </a:solidFill>
                <a:latin typeface="Gotham Medium"/>
              </a:rPr>
              <a:t>críticas</a:t>
            </a:r>
            <a:endParaRPr sz="2800" b="1" i="0" dirty="0">
              <a:solidFill>
                <a:srgbClr val="132A4D"/>
              </a:solidFill>
              <a:latin typeface="Gotham Medium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854642"/>
              </p:ext>
            </p:extLst>
          </p:nvPr>
        </p:nvGraphicFramePr>
        <p:xfrm>
          <a:off x="393192" y="1965960"/>
          <a:ext cx="64008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531"/>
                <a:gridCol w="4232109"/>
                <a:gridCol w="128016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s-ES" sz="1250" b="1" i="0" dirty="0" smtClean="0">
                          <a:solidFill>
                            <a:srgbClr val="FFFFFF"/>
                          </a:solidFill>
                          <a:latin typeface="Gotham Medium"/>
                        </a:rPr>
                        <a:t>Posición</a:t>
                      </a:r>
                      <a:endParaRPr sz="1250" b="1" i="0" dirty="0">
                        <a:solidFill>
                          <a:srgbClr val="FFFFFF"/>
                        </a:solidFill>
                        <a:latin typeface="Gotham Medium"/>
                      </a:endParaRPr>
                    </a:p>
                  </a:txBody>
                  <a:tcPr anchor="ctr">
                    <a:solidFill>
                      <a:srgbClr val="13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Gotham Medium"/>
                        </a:rPr>
                        <a:t>Intersección</a:t>
                      </a:r>
                    </a:p>
                  </a:txBody>
                  <a:tcPr anchor="ctr">
                    <a:solidFill>
                      <a:srgbClr val="132A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Gotham Medium"/>
                        </a:rPr>
                        <a:t>Índice</a:t>
                      </a:r>
                    </a:p>
                  </a:txBody>
                  <a:tcPr anchor="ctr">
                    <a:solidFill>
                      <a:srgbClr val="132A4D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01600" anchor="ctr">
                    <a:solidFill>
                      <a:srgbClr val="D40E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ptos"/>
                        </a:rPr>
                        <a:t>Av. Pellegrini y Bv. Oroño</a:t>
                      </a:r>
                    </a:p>
                  </a:txBody>
                  <a:tcPr marL="101600" anchor="ctr">
                    <a:solidFill>
                      <a:srgbClr val="D40E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ptos"/>
                        </a:rPr>
                        <a:t>1,00</a:t>
                      </a:r>
                    </a:p>
                  </a:txBody>
                  <a:tcPr marL="101600" anchor="ctr">
                    <a:solidFill>
                      <a:srgbClr val="D40E25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545C65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0160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545C65"/>
                          </a:solidFill>
                          <a:latin typeface="Aptos"/>
                        </a:rPr>
                        <a:t>Bv. Seguí y Bv. Oroño</a:t>
                      </a:r>
                    </a:p>
                  </a:txBody>
                  <a:tcPr marL="10160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D4370"/>
                          </a:solidFill>
                          <a:latin typeface="Aptos"/>
                        </a:rPr>
                        <a:t>0,79</a:t>
                      </a:r>
                    </a:p>
                  </a:txBody>
                  <a:tcPr marL="101600" anchor="ctr">
                    <a:solidFill>
                      <a:srgbClr val="EFF3F7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545C65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545C65"/>
                          </a:solidFill>
                          <a:latin typeface="Aptos"/>
                        </a:rPr>
                        <a:t>Av. Newbery y Col. José M. Rosa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D4370"/>
                          </a:solidFill>
                          <a:latin typeface="Aptos"/>
                        </a:rPr>
                        <a:t>0,75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545C65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10160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545C65"/>
                          </a:solidFill>
                          <a:latin typeface="Aptos"/>
                        </a:rPr>
                        <a:t>Bv. Oroño y Av. Battle y Ordoñez</a:t>
                      </a:r>
                    </a:p>
                  </a:txBody>
                  <a:tcPr marL="10160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D4370"/>
                          </a:solidFill>
                          <a:latin typeface="Aptos"/>
                        </a:rPr>
                        <a:t>0,73</a:t>
                      </a:r>
                    </a:p>
                  </a:txBody>
                  <a:tcPr marL="101600" anchor="ctr">
                    <a:solidFill>
                      <a:srgbClr val="EFF3F7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545C65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545C65"/>
                          </a:solidFill>
                          <a:latin typeface="Aptos"/>
                        </a:rPr>
                        <a:t>Av. Pellegrini y Av. Belgrano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D4370"/>
                          </a:solidFill>
                          <a:latin typeface="Aptos"/>
                        </a:rPr>
                        <a:t>0,72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086600" y="1965960"/>
            <a:ext cx="3611880" cy="306324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 w="12700">
            <a:solidFill>
              <a:srgbClr val="1D4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21488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40E25"/>
                </a:solidFill>
                <a:latin typeface="Gotham Medium"/>
              </a:rPr>
              <a:t>VOLVIENDO A NUESTRO EJEMPLO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560320"/>
            <a:ext cx="3200400" cy="750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 dirty="0">
                <a:solidFill>
                  <a:srgbClr val="1D4370"/>
                </a:solidFill>
                <a:latin typeface="Gotham Medium"/>
              </a:rPr>
              <a:t>Av. Newbery y </a:t>
            </a:r>
            <a:r>
              <a:rPr sz="1300" b="1" i="0" dirty="0" err="1">
                <a:solidFill>
                  <a:srgbClr val="1D4370"/>
                </a:solidFill>
                <a:latin typeface="Gotham Medium"/>
              </a:rPr>
              <a:t>Colectora</a:t>
            </a:r>
            <a:r>
              <a:rPr sz="1300" b="1" i="0" dirty="0">
                <a:solidFill>
                  <a:srgbClr val="1D4370"/>
                </a:solidFill>
                <a:latin typeface="Gotham Medium"/>
              </a:rPr>
              <a:t> José M. Rosa </a:t>
            </a:r>
            <a:r>
              <a:rPr lang="es-ES" sz="1300" b="0" i="0" dirty="0" smtClean="0">
                <a:solidFill>
                  <a:srgbClr val="545C65"/>
                </a:solidFill>
                <a:latin typeface="Aptos"/>
              </a:rPr>
              <a:t>se ubica en la posición </a:t>
            </a:r>
            <a:r>
              <a:rPr sz="1300" b="0" i="0" dirty="0" smtClean="0">
                <a:solidFill>
                  <a:srgbClr val="545C65"/>
                </a:solidFill>
                <a:latin typeface="Aptos"/>
              </a:rPr>
              <a:t>11</a:t>
            </a:r>
            <a:r>
              <a:rPr sz="1300" b="0" i="0" dirty="0">
                <a:solidFill>
                  <a:srgbClr val="545C65"/>
                </a:solidFill>
                <a:latin typeface="Aptos"/>
              </a:rPr>
              <a:t>° </a:t>
            </a:r>
            <a:r>
              <a:rPr lang="es-ES" sz="1300" b="0" i="0" dirty="0" smtClean="0">
                <a:solidFill>
                  <a:srgbClr val="545C65"/>
                </a:solidFill>
                <a:latin typeface="Aptos"/>
              </a:rPr>
              <a:t>en</a:t>
            </a:r>
            <a:r>
              <a:rPr sz="1300" b="0" i="0" dirty="0" smtClean="0">
                <a:solidFill>
                  <a:srgbClr val="545C65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545C65"/>
                </a:solidFill>
                <a:latin typeface="Aptos"/>
              </a:rPr>
              <a:t>cantidad</a:t>
            </a:r>
            <a:r>
              <a:rPr sz="1300" b="0" i="0" dirty="0">
                <a:solidFill>
                  <a:srgbClr val="545C65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545C65"/>
                </a:solidFill>
                <a:latin typeface="Aptos"/>
              </a:rPr>
              <a:t>absoluta</a:t>
            </a:r>
            <a:r>
              <a:rPr sz="1300" b="0" i="0" dirty="0">
                <a:solidFill>
                  <a:srgbClr val="545C65"/>
                </a:solidFill>
                <a:latin typeface="Aptos"/>
              </a:rPr>
              <a:t> de </a:t>
            </a:r>
            <a:r>
              <a:rPr sz="1300" b="0" i="0" dirty="0" err="1">
                <a:solidFill>
                  <a:srgbClr val="545C65"/>
                </a:solidFill>
                <a:latin typeface="Aptos"/>
              </a:rPr>
              <a:t>siniestros</a:t>
            </a:r>
            <a:r>
              <a:rPr sz="1300" b="0" i="0" dirty="0">
                <a:solidFill>
                  <a:srgbClr val="545C65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570458"/>
            <a:ext cx="32004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 dirty="0">
                <a:solidFill>
                  <a:srgbClr val="545C65"/>
                </a:solidFill>
                <a:latin typeface="Aptos"/>
              </a:rPr>
              <a:t>Al </a:t>
            </a:r>
            <a:r>
              <a:rPr sz="1250" b="0" i="1" dirty="0" err="1">
                <a:solidFill>
                  <a:srgbClr val="545C65"/>
                </a:solidFill>
                <a:latin typeface="Aptos"/>
              </a:rPr>
              <a:t>incorporar</a:t>
            </a:r>
            <a:r>
              <a:rPr sz="1250" b="0" i="1" dirty="0">
                <a:solidFill>
                  <a:srgbClr val="545C65"/>
                </a:solidFill>
                <a:latin typeface="Aptos"/>
              </a:rPr>
              <a:t> el </a:t>
            </a:r>
            <a:r>
              <a:rPr sz="1250" b="0" i="1" dirty="0" err="1">
                <a:solidFill>
                  <a:srgbClr val="545C65"/>
                </a:solidFill>
                <a:latin typeface="Aptos"/>
              </a:rPr>
              <a:t>flujo</a:t>
            </a:r>
            <a:r>
              <a:rPr sz="1250" b="0" i="1" dirty="0">
                <a:solidFill>
                  <a:srgbClr val="545C65"/>
                </a:solidFill>
                <a:latin typeface="Aptos"/>
              </a:rPr>
              <a:t>, </a:t>
            </a:r>
            <a:r>
              <a:rPr lang="es-ES" sz="1250" b="0" i="1" dirty="0" smtClean="0">
                <a:solidFill>
                  <a:srgbClr val="545C65"/>
                </a:solidFill>
                <a:latin typeface="Aptos"/>
              </a:rPr>
              <a:t>se ubica en</a:t>
            </a:r>
            <a:r>
              <a:rPr sz="1250" b="0" i="1" dirty="0" smtClean="0">
                <a:solidFill>
                  <a:srgbClr val="545C65"/>
                </a:solidFill>
                <a:latin typeface="Aptos"/>
              </a:rPr>
              <a:t> </a:t>
            </a:r>
            <a:r>
              <a:rPr lang="es-ES" sz="1250" i="1" dirty="0">
                <a:solidFill>
                  <a:srgbClr val="545C65"/>
                </a:solidFill>
                <a:latin typeface="Aptos"/>
              </a:rPr>
              <a:t>e</a:t>
            </a:r>
            <a:r>
              <a:rPr sz="1250" b="0" i="1" dirty="0" smtClean="0">
                <a:solidFill>
                  <a:srgbClr val="545C65"/>
                </a:solidFill>
                <a:latin typeface="Aptos"/>
              </a:rPr>
              <a:t>l </a:t>
            </a:r>
            <a:r>
              <a:rPr sz="1250" b="0" i="1" dirty="0">
                <a:solidFill>
                  <a:srgbClr val="545C65"/>
                </a:solidFill>
                <a:latin typeface="Aptos"/>
              </a:rPr>
              <a:t>3er </a:t>
            </a:r>
            <a:r>
              <a:rPr sz="1250" b="0" i="1" dirty="0" err="1">
                <a:solidFill>
                  <a:srgbClr val="545C65"/>
                </a:solidFill>
                <a:latin typeface="Aptos"/>
              </a:rPr>
              <a:t>lugar</a:t>
            </a:r>
            <a:r>
              <a:rPr sz="1250" b="0" i="1" dirty="0">
                <a:solidFill>
                  <a:srgbClr val="545C65"/>
                </a:solidFill>
                <a:latin typeface="Aptos"/>
              </a:rPr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160520"/>
            <a:ext cx="3200400" cy="4801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s-ES" sz="1300" b="1" dirty="0" err="1">
                <a:solidFill>
                  <a:srgbClr val="BE2B32"/>
                </a:solidFill>
                <a:latin typeface="Gotham Medium"/>
              </a:rPr>
              <a:t>M</a:t>
            </a:r>
            <a:r>
              <a:rPr sz="1300" b="1" i="0" dirty="0" err="1" smtClean="0">
                <a:solidFill>
                  <a:srgbClr val="BE2B32"/>
                </a:solidFill>
                <a:latin typeface="Gotham Medium"/>
              </a:rPr>
              <a:t>enos</a:t>
            </a:r>
            <a:r>
              <a:rPr sz="1300" b="1" i="0" dirty="0" smtClean="0">
                <a:solidFill>
                  <a:srgbClr val="BE2B32"/>
                </a:solidFill>
                <a:latin typeface="Gotham Medium"/>
              </a:rPr>
              <a:t> </a:t>
            </a:r>
            <a:r>
              <a:rPr sz="1300" b="1" i="0" dirty="0" err="1">
                <a:solidFill>
                  <a:srgbClr val="BE2B32"/>
                </a:solidFill>
                <a:latin typeface="Gotham Medium"/>
              </a:rPr>
              <a:t>vehículos</a:t>
            </a:r>
            <a:r>
              <a:rPr sz="1300" b="1" i="0" dirty="0">
                <a:solidFill>
                  <a:srgbClr val="BE2B32"/>
                </a:solidFill>
                <a:latin typeface="Gotham Medium"/>
              </a:rPr>
              <a:t> </a:t>
            </a:r>
            <a:r>
              <a:rPr sz="1300" b="1" i="0" dirty="0" err="1">
                <a:solidFill>
                  <a:srgbClr val="BE2B32"/>
                </a:solidFill>
                <a:latin typeface="Gotham Medium"/>
              </a:rPr>
              <a:t>exponen</a:t>
            </a:r>
            <a:r>
              <a:rPr sz="1300" b="1" i="0" dirty="0">
                <a:solidFill>
                  <a:srgbClr val="BE2B32"/>
                </a:solidFill>
                <a:latin typeface="Gotham Medium"/>
              </a:rPr>
              <a:t> a </a:t>
            </a:r>
            <a:r>
              <a:rPr sz="1300" b="1" i="0" dirty="0" err="1">
                <a:solidFill>
                  <a:srgbClr val="BE2B32"/>
                </a:solidFill>
                <a:latin typeface="Gotham Medium"/>
              </a:rPr>
              <a:t>más</a:t>
            </a:r>
            <a:r>
              <a:rPr sz="1300" b="1" i="0" dirty="0">
                <a:solidFill>
                  <a:srgbClr val="BE2B32"/>
                </a:solidFill>
                <a:latin typeface="Gotham Medium"/>
              </a:rPr>
              <a:t> </a:t>
            </a:r>
            <a:r>
              <a:rPr sz="1300" b="1" i="0" dirty="0" err="1">
                <a:solidFill>
                  <a:srgbClr val="BE2B32"/>
                </a:solidFill>
                <a:latin typeface="Gotham Medium"/>
              </a:rPr>
              <a:t>riesgo</a:t>
            </a:r>
            <a:r>
              <a:rPr sz="1300" b="1" i="0" dirty="0">
                <a:solidFill>
                  <a:srgbClr val="BE2B32"/>
                </a:solidFill>
                <a:latin typeface="Gotham Medium"/>
              </a:rPr>
              <a:t> </a:t>
            </a:r>
            <a:r>
              <a:rPr sz="1300" b="1" i="0" dirty="0" err="1">
                <a:solidFill>
                  <a:srgbClr val="BE2B32"/>
                </a:solidFill>
                <a:latin typeface="Gotham Medium"/>
              </a:rPr>
              <a:t>por</a:t>
            </a:r>
            <a:r>
              <a:rPr sz="1300" b="1" i="0" dirty="0">
                <a:solidFill>
                  <a:srgbClr val="BE2B32"/>
                </a:solidFill>
                <a:latin typeface="Gotham Medium"/>
              </a:rPr>
              <a:t> </a:t>
            </a:r>
            <a:r>
              <a:rPr sz="1300" b="1" i="0" dirty="0" err="1">
                <a:solidFill>
                  <a:srgbClr val="BE2B32"/>
                </a:solidFill>
                <a:latin typeface="Gotham Medium"/>
              </a:rPr>
              <a:t>siniestro</a:t>
            </a:r>
            <a:r>
              <a:rPr sz="1300" b="1" i="0" dirty="0">
                <a:solidFill>
                  <a:srgbClr val="BE2B32"/>
                </a:solidFill>
                <a:latin typeface="Gotham Medium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5166360"/>
            <a:ext cx="10332720" cy="519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 dirty="0">
                <a:solidFill>
                  <a:srgbClr val="1D4370"/>
                </a:solidFill>
                <a:latin typeface="Gotham Medium"/>
              </a:rPr>
              <a:t>La </a:t>
            </a:r>
            <a:r>
              <a:rPr sz="1350" b="1" i="0" dirty="0" err="1">
                <a:solidFill>
                  <a:srgbClr val="1D4370"/>
                </a:solidFill>
                <a:latin typeface="Gotham Medium"/>
              </a:rPr>
              <a:t>cantidad</a:t>
            </a:r>
            <a:r>
              <a:rPr sz="1350" b="1" i="0" dirty="0">
                <a:solidFill>
                  <a:srgbClr val="1D4370"/>
                </a:solidFill>
                <a:latin typeface="Gotham Medium"/>
              </a:rPr>
              <a:t> </a:t>
            </a:r>
            <a:r>
              <a:rPr sz="1350" b="1" i="0" dirty="0" err="1">
                <a:solidFill>
                  <a:srgbClr val="1D4370"/>
                </a:solidFill>
                <a:latin typeface="Gotham Medium"/>
              </a:rPr>
              <a:t>absoluta</a:t>
            </a:r>
            <a:r>
              <a:rPr sz="1350" b="1" i="0" dirty="0">
                <a:solidFill>
                  <a:srgbClr val="1D4370"/>
                </a:solidFill>
                <a:latin typeface="Gotham Medium"/>
              </a:rPr>
              <a:t> no </a:t>
            </a:r>
            <a:r>
              <a:rPr sz="1350" b="1" i="0" dirty="0" err="1">
                <a:solidFill>
                  <a:srgbClr val="1D4370"/>
                </a:solidFill>
                <a:latin typeface="Gotham Medium"/>
              </a:rPr>
              <a:t>equivale</a:t>
            </a:r>
            <a:r>
              <a:rPr sz="1350" b="1" i="0" dirty="0">
                <a:solidFill>
                  <a:srgbClr val="1D4370"/>
                </a:solidFill>
                <a:latin typeface="Gotham Medium"/>
              </a:rPr>
              <a:t> a la </a:t>
            </a:r>
            <a:r>
              <a:rPr sz="1350" b="1" i="0" dirty="0" err="1">
                <a:solidFill>
                  <a:srgbClr val="1D4370"/>
                </a:solidFill>
                <a:latin typeface="Gotham Medium"/>
              </a:rPr>
              <a:t>peligrosidad</a:t>
            </a:r>
            <a:r>
              <a:rPr sz="1350" b="1" i="0" dirty="0">
                <a:solidFill>
                  <a:srgbClr val="1D4370"/>
                </a:solidFill>
                <a:latin typeface="Gotham Medium"/>
              </a:rPr>
              <a:t> </a:t>
            </a:r>
            <a:r>
              <a:rPr sz="1350" b="1" i="0" dirty="0" err="1">
                <a:solidFill>
                  <a:srgbClr val="1D4370"/>
                </a:solidFill>
                <a:latin typeface="Gotham Medium"/>
              </a:rPr>
              <a:t>relativa</a:t>
            </a:r>
            <a:r>
              <a:rPr sz="1350" b="1" i="0" dirty="0">
                <a:solidFill>
                  <a:srgbClr val="1D4370"/>
                </a:solidFill>
                <a:latin typeface="Gotham Medium"/>
              </a:rPr>
              <a:t>: </a:t>
            </a:r>
            <a:r>
              <a:rPr sz="1350" b="0" i="0" dirty="0" err="1">
                <a:solidFill>
                  <a:srgbClr val="545C65"/>
                </a:solidFill>
                <a:latin typeface="Aptos"/>
              </a:rPr>
              <a:t>igual</a:t>
            </a:r>
            <a:r>
              <a:rPr sz="1350" b="0" i="0" dirty="0">
                <a:solidFill>
                  <a:srgbClr val="545C65"/>
                </a:solidFill>
                <a:latin typeface="Aptos"/>
              </a:rPr>
              <a:t> </a:t>
            </a:r>
            <a:r>
              <a:rPr sz="1350" b="0" i="0" dirty="0" err="1">
                <a:solidFill>
                  <a:srgbClr val="545C65"/>
                </a:solidFill>
                <a:latin typeface="Aptos"/>
              </a:rPr>
              <a:t>que</a:t>
            </a:r>
            <a:r>
              <a:rPr sz="1350" b="0" i="0" dirty="0">
                <a:solidFill>
                  <a:srgbClr val="545C65"/>
                </a:solidFill>
                <a:latin typeface="Aptos"/>
              </a:rPr>
              <a:t> en </a:t>
            </a:r>
            <a:r>
              <a:rPr sz="1350" b="0" i="0" dirty="0" err="1">
                <a:solidFill>
                  <a:srgbClr val="545C65"/>
                </a:solidFill>
                <a:latin typeface="Aptos"/>
              </a:rPr>
              <a:t>nuestras</a:t>
            </a:r>
            <a:r>
              <a:rPr sz="1350" b="0" i="0" dirty="0">
                <a:solidFill>
                  <a:srgbClr val="545C65"/>
                </a:solidFill>
                <a:latin typeface="Aptos"/>
              </a:rPr>
              <a:t> dos </a:t>
            </a:r>
            <a:r>
              <a:rPr sz="1350" b="0" i="0" dirty="0" err="1">
                <a:solidFill>
                  <a:srgbClr val="545C65"/>
                </a:solidFill>
                <a:latin typeface="Aptos"/>
              </a:rPr>
              <a:t>esquinas</a:t>
            </a:r>
            <a:r>
              <a:rPr sz="1350" b="0" i="0" dirty="0">
                <a:solidFill>
                  <a:srgbClr val="545C65"/>
                </a:solidFill>
                <a:latin typeface="Aptos"/>
              </a:rPr>
              <a:t> </a:t>
            </a:r>
            <a:r>
              <a:rPr lang="es-ES" sz="1350" b="0" i="0" dirty="0" smtClean="0">
                <a:solidFill>
                  <a:srgbClr val="545C65"/>
                </a:solidFill>
                <a:latin typeface="Aptos"/>
              </a:rPr>
              <a:t>de ejemplo</a:t>
            </a:r>
            <a:r>
              <a:rPr sz="1350" b="0" i="0" dirty="0" smtClean="0">
                <a:solidFill>
                  <a:srgbClr val="545C65"/>
                </a:solidFill>
                <a:latin typeface="Aptos"/>
              </a:rPr>
              <a:t>, </a:t>
            </a:r>
            <a:r>
              <a:rPr sz="1350" b="0" i="0" dirty="0" err="1">
                <a:solidFill>
                  <a:srgbClr val="545C65"/>
                </a:solidFill>
                <a:latin typeface="Aptos"/>
              </a:rPr>
              <a:t>incorporar</a:t>
            </a:r>
            <a:r>
              <a:rPr sz="1350" b="0" i="0" dirty="0">
                <a:solidFill>
                  <a:srgbClr val="545C65"/>
                </a:solidFill>
                <a:latin typeface="Aptos"/>
              </a:rPr>
              <a:t> el </a:t>
            </a:r>
            <a:r>
              <a:rPr sz="1350" b="0" i="0" dirty="0" err="1">
                <a:solidFill>
                  <a:srgbClr val="545C65"/>
                </a:solidFill>
                <a:latin typeface="Aptos"/>
              </a:rPr>
              <a:t>tránsito</a:t>
            </a:r>
            <a:r>
              <a:rPr sz="1350" b="0" i="0" dirty="0">
                <a:solidFill>
                  <a:srgbClr val="545C65"/>
                </a:solidFill>
                <a:latin typeface="Aptos"/>
              </a:rPr>
              <a:t> </a:t>
            </a:r>
            <a:r>
              <a:rPr sz="1350" b="0" i="0" dirty="0" err="1">
                <a:solidFill>
                  <a:srgbClr val="545C65"/>
                </a:solidFill>
                <a:latin typeface="Aptos"/>
              </a:rPr>
              <a:t>expuesto</a:t>
            </a:r>
            <a:r>
              <a:rPr sz="1350" b="0" i="0" dirty="0">
                <a:solidFill>
                  <a:srgbClr val="545C65"/>
                </a:solidFill>
                <a:latin typeface="Aptos"/>
              </a:rPr>
              <a:t> cambia </a:t>
            </a:r>
            <a:r>
              <a:rPr sz="1350" b="0" i="0" dirty="0" err="1">
                <a:solidFill>
                  <a:srgbClr val="545C65"/>
                </a:solidFill>
                <a:latin typeface="Aptos"/>
              </a:rPr>
              <a:t>qué</a:t>
            </a:r>
            <a:r>
              <a:rPr sz="1350" b="0" i="0" dirty="0">
                <a:solidFill>
                  <a:srgbClr val="545C65"/>
                </a:solidFill>
                <a:latin typeface="Aptos"/>
              </a:rPr>
              <a:t> </a:t>
            </a:r>
            <a:r>
              <a:rPr sz="1350" b="0" i="0" dirty="0" err="1">
                <a:solidFill>
                  <a:srgbClr val="545C65"/>
                </a:solidFill>
                <a:latin typeface="Aptos"/>
              </a:rPr>
              <a:t>esquinas</a:t>
            </a:r>
            <a:r>
              <a:rPr sz="1350" b="0" i="0" dirty="0">
                <a:solidFill>
                  <a:srgbClr val="545C65"/>
                </a:solidFill>
                <a:latin typeface="Aptos"/>
              </a:rPr>
              <a:t> </a:t>
            </a:r>
            <a:r>
              <a:rPr sz="1350" b="0" i="0" dirty="0" err="1">
                <a:solidFill>
                  <a:srgbClr val="545C65"/>
                </a:solidFill>
                <a:latin typeface="Aptos"/>
              </a:rPr>
              <a:t>priorizamos</a:t>
            </a:r>
            <a:r>
              <a:rPr sz="1350" b="0" i="0" dirty="0">
                <a:solidFill>
                  <a:srgbClr val="545C65"/>
                </a:solidFill>
                <a:latin typeface="Apto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37960"/>
            <a:ext cx="457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 smtClean="0">
                <a:solidFill>
                  <a:srgbClr val="545C65"/>
                </a:solidFill>
                <a:latin typeface="Aptos"/>
              </a:rPr>
              <a:t>1</a:t>
            </a:r>
            <a:r>
              <a:rPr lang="es-ES" sz="900" b="0" i="0" dirty="0" smtClean="0">
                <a:solidFill>
                  <a:srgbClr val="545C65"/>
                </a:solidFill>
                <a:latin typeface="Aptos"/>
              </a:rPr>
              <a:t>0</a:t>
            </a:r>
            <a:endParaRPr sz="900" b="0" i="0" dirty="0">
              <a:solidFill>
                <a:srgbClr val="545C6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6397698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="" xmlns:a16="http://schemas.microsoft.com/office/drawing/2014/main" id="{48051C4E-A246-9B4E-D593-21C3D257E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192" y="1170432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32A4D"/>
                </a:solidFill>
                <a:latin typeface="Gotham Medium"/>
              </a:rPr>
              <a:t>Una herramienta interactiva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1874519"/>
            <a:ext cx="6035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545C65"/>
                </a:solidFill>
                <a:latin typeface="Aptos"/>
              </a:rPr>
              <a:t>Desarrollada</a:t>
            </a:r>
            <a:r>
              <a:rPr sz="1600" b="0" i="0" dirty="0">
                <a:solidFill>
                  <a:srgbClr val="545C65"/>
                </a:solidFill>
                <a:latin typeface="Aptos"/>
              </a:rPr>
              <a:t> en R / Shiny, </a:t>
            </a:r>
            <a:r>
              <a:rPr sz="1600" b="0" i="0" dirty="0" err="1">
                <a:solidFill>
                  <a:srgbClr val="545C65"/>
                </a:solidFill>
                <a:latin typeface="Aptos"/>
              </a:rPr>
              <a:t>permite</a:t>
            </a:r>
            <a:r>
              <a:rPr sz="1600" b="0" i="0" dirty="0">
                <a:solidFill>
                  <a:srgbClr val="545C65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545C65"/>
                </a:solidFill>
                <a:latin typeface="Aptos"/>
              </a:rPr>
              <a:t>explorar</a:t>
            </a:r>
            <a:r>
              <a:rPr sz="1600" b="0" i="0" dirty="0">
                <a:solidFill>
                  <a:srgbClr val="545C65"/>
                </a:solidFill>
                <a:latin typeface="Aptos"/>
              </a:rPr>
              <a:t> de forma </a:t>
            </a:r>
            <a:r>
              <a:rPr sz="1600" b="0" i="0" dirty="0" err="1">
                <a:solidFill>
                  <a:srgbClr val="545C65"/>
                </a:solidFill>
                <a:latin typeface="Aptos"/>
              </a:rPr>
              <a:t>dinámica</a:t>
            </a:r>
            <a:r>
              <a:rPr sz="1600" b="0" i="0" dirty="0">
                <a:solidFill>
                  <a:srgbClr val="545C65"/>
                </a:solidFill>
                <a:latin typeface="Aptos"/>
              </a:rPr>
              <a:t>:</a:t>
            </a:r>
          </a:p>
        </p:txBody>
      </p:sp>
      <p:sp>
        <p:nvSpPr>
          <p:cNvPr id="6" name="Oval 5"/>
          <p:cNvSpPr/>
          <p:nvPr/>
        </p:nvSpPr>
        <p:spPr>
          <a:xfrm>
            <a:off x="393192" y="2487327"/>
            <a:ext cx="128016" cy="128016"/>
          </a:xfrm>
          <a:prstGeom prst="ellipse">
            <a:avLst/>
          </a:prstGeom>
          <a:solidFill>
            <a:srgbClr val="D4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423160"/>
            <a:ext cx="557784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 dirty="0" err="1">
                <a:solidFill>
                  <a:srgbClr val="545C65"/>
                </a:solidFill>
                <a:latin typeface="Aptos"/>
              </a:rPr>
              <a:t>Mapas</a:t>
            </a:r>
            <a:r>
              <a:rPr sz="1500" b="0" i="0" dirty="0">
                <a:solidFill>
                  <a:srgbClr val="545C65"/>
                </a:solidFill>
                <a:latin typeface="Aptos"/>
              </a:rPr>
              <a:t> de </a:t>
            </a:r>
            <a:r>
              <a:rPr sz="1500" b="0" i="0" dirty="0" err="1">
                <a:solidFill>
                  <a:srgbClr val="545C65"/>
                </a:solidFill>
                <a:latin typeface="Aptos"/>
              </a:rPr>
              <a:t>puntos</a:t>
            </a:r>
            <a:r>
              <a:rPr sz="1500" b="0" i="0" dirty="0">
                <a:solidFill>
                  <a:srgbClr val="545C65"/>
                </a:solidFill>
                <a:latin typeface="Aptos"/>
              </a:rPr>
              <a:t> y </a:t>
            </a:r>
            <a:r>
              <a:rPr sz="1500" b="0" i="0" dirty="0" err="1">
                <a:solidFill>
                  <a:srgbClr val="545C65"/>
                </a:solidFill>
                <a:latin typeface="Aptos"/>
              </a:rPr>
              <a:t>mapas</a:t>
            </a:r>
            <a:r>
              <a:rPr sz="1500" b="0" i="0" dirty="0">
                <a:solidFill>
                  <a:srgbClr val="545C65"/>
                </a:solidFill>
                <a:latin typeface="Aptos"/>
              </a:rPr>
              <a:t> de </a:t>
            </a:r>
            <a:r>
              <a:rPr sz="1500" b="0" i="0" dirty="0" err="1">
                <a:solidFill>
                  <a:srgbClr val="545C65"/>
                </a:solidFill>
                <a:latin typeface="Aptos"/>
              </a:rPr>
              <a:t>calor</a:t>
            </a:r>
            <a:r>
              <a:rPr sz="1500" b="0" i="0" dirty="0">
                <a:solidFill>
                  <a:srgbClr val="545C65"/>
                </a:solidFill>
                <a:latin typeface="Aptos"/>
              </a:rPr>
              <a:t> (KDE) de </a:t>
            </a:r>
            <a:r>
              <a:rPr sz="1500" b="0" i="0" dirty="0" err="1">
                <a:solidFill>
                  <a:srgbClr val="545C65"/>
                </a:solidFill>
                <a:latin typeface="Aptos"/>
              </a:rPr>
              <a:t>siniestros</a:t>
            </a:r>
            <a:endParaRPr sz="1500" b="0" i="0" dirty="0">
              <a:solidFill>
                <a:srgbClr val="545C65"/>
              </a:solidFill>
              <a:latin typeface="Aptos"/>
            </a:endParaRPr>
          </a:p>
        </p:txBody>
      </p:sp>
      <p:sp>
        <p:nvSpPr>
          <p:cNvPr id="8" name="Oval 7"/>
          <p:cNvSpPr/>
          <p:nvPr/>
        </p:nvSpPr>
        <p:spPr>
          <a:xfrm>
            <a:off x="393192" y="3153510"/>
            <a:ext cx="128016" cy="128016"/>
          </a:xfrm>
          <a:prstGeom prst="ellipse">
            <a:avLst/>
          </a:prstGeom>
          <a:solidFill>
            <a:srgbClr val="D4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3081528"/>
            <a:ext cx="557784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dirty="0" err="1">
                <a:solidFill>
                  <a:srgbClr val="545C65"/>
                </a:solidFill>
                <a:latin typeface="Aptos"/>
              </a:rPr>
              <a:t>Filtros</a:t>
            </a:r>
            <a:r>
              <a:rPr sz="1500" dirty="0">
                <a:solidFill>
                  <a:srgbClr val="545C65"/>
                </a:solidFill>
                <a:latin typeface="Aptos"/>
              </a:rPr>
              <a:t> </a:t>
            </a:r>
            <a:r>
              <a:rPr sz="1500" dirty="0" err="1">
                <a:solidFill>
                  <a:srgbClr val="545C65"/>
                </a:solidFill>
                <a:latin typeface="Aptos"/>
              </a:rPr>
              <a:t>por</a:t>
            </a:r>
            <a:r>
              <a:rPr sz="1500" dirty="0">
                <a:solidFill>
                  <a:srgbClr val="545C65"/>
                </a:solidFill>
                <a:latin typeface="Aptos"/>
              </a:rPr>
              <a:t> </a:t>
            </a:r>
            <a:r>
              <a:rPr sz="1500" dirty="0" err="1">
                <a:solidFill>
                  <a:srgbClr val="545C65"/>
                </a:solidFill>
                <a:latin typeface="Aptos"/>
              </a:rPr>
              <a:t>ubicación</a:t>
            </a:r>
            <a:r>
              <a:rPr sz="1500" dirty="0">
                <a:solidFill>
                  <a:srgbClr val="545C65"/>
                </a:solidFill>
                <a:latin typeface="Aptos"/>
              </a:rPr>
              <a:t>, </a:t>
            </a:r>
            <a:r>
              <a:rPr sz="1500" dirty="0" err="1">
                <a:solidFill>
                  <a:srgbClr val="545C65"/>
                </a:solidFill>
                <a:latin typeface="Aptos"/>
              </a:rPr>
              <a:t>período</a:t>
            </a:r>
            <a:r>
              <a:rPr sz="1500" dirty="0">
                <a:solidFill>
                  <a:srgbClr val="545C65"/>
                </a:solidFill>
                <a:latin typeface="Aptos"/>
              </a:rPr>
              <a:t> temporal y </a:t>
            </a:r>
            <a:r>
              <a:rPr sz="1500" dirty="0" err="1">
                <a:solidFill>
                  <a:srgbClr val="545C65"/>
                </a:solidFill>
                <a:latin typeface="Aptos"/>
              </a:rPr>
              <a:t>tipo</a:t>
            </a:r>
            <a:r>
              <a:rPr sz="1500" dirty="0">
                <a:solidFill>
                  <a:srgbClr val="545C65"/>
                </a:solidFill>
                <a:latin typeface="Aptos"/>
              </a:rPr>
              <a:t> de </a:t>
            </a:r>
            <a:r>
              <a:rPr sz="1500" dirty="0" err="1">
                <a:solidFill>
                  <a:srgbClr val="545C65"/>
                </a:solidFill>
                <a:latin typeface="Aptos"/>
              </a:rPr>
              <a:t>evento</a:t>
            </a:r>
            <a:endParaRPr sz="1500" dirty="0">
              <a:solidFill>
                <a:srgbClr val="545C65"/>
              </a:solidFill>
              <a:latin typeface="Apto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393192" y="3811878"/>
            <a:ext cx="128016" cy="128016"/>
          </a:xfrm>
          <a:prstGeom prst="ellipse">
            <a:avLst/>
          </a:prstGeom>
          <a:solidFill>
            <a:srgbClr val="D4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3739896"/>
            <a:ext cx="557784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 dirty="0" err="1">
                <a:solidFill>
                  <a:srgbClr val="545C65"/>
                </a:solidFill>
                <a:latin typeface="Aptos"/>
              </a:rPr>
              <a:t>Distribución</a:t>
            </a:r>
            <a:r>
              <a:rPr sz="1300" b="0" i="0" dirty="0">
                <a:solidFill>
                  <a:srgbClr val="545C65"/>
                </a:solidFill>
                <a:latin typeface="Aptos"/>
              </a:rPr>
              <a:t> </a:t>
            </a:r>
            <a:r>
              <a:rPr sz="1500" dirty="0" err="1">
                <a:solidFill>
                  <a:srgbClr val="545C65"/>
                </a:solidFill>
                <a:latin typeface="Aptos"/>
              </a:rPr>
              <a:t>por</a:t>
            </a:r>
            <a:r>
              <a:rPr sz="1500" dirty="0">
                <a:solidFill>
                  <a:srgbClr val="545C65"/>
                </a:solidFill>
                <a:latin typeface="Aptos"/>
              </a:rPr>
              <a:t> </a:t>
            </a:r>
            <a:r>
              <a:rPr sz="1500" dirty="0" err="1">
                <a:solidFill>
                  <a:srgbClr val="545C65"/>
                </a:solidFill>
                <a:latin typeface="Aptos"/>
              </a:rPr>
              <a:t>mes</a:t>
            </a:r>
            <a:r>
              <a:rPr sz="1500" dirty="0">
                <a:solidFill>
                  <a:srgbClr val="545C65"/>
                </a:solidFill>
                <a:latin typeface="Aptos"/>
              </a:rPr>
              <a:t>, </a:t>
            </a:r>
            <a:r>
              <a:rPr sz="1500" dirty="0" err="1">
                <a:solidFill>
                  <a:srgbClr val="545C65"/>
                </a:solidFill>
                <a:latin typeface="Aptos"/>
              </a:rPr>
              <a:t>día</a:t>
            </a:r>
            <a:r>
              <a:rPr sz="1500" dirty="0">
                <a:solidFill>
                  <a:srgbClr val="545C65"/>
                </a:solidFill>
                <a:latin typeface="Aptos"/>
              </a:rPr>
              <a:t>, </a:t>
            </a:r>
            <a:r>
              <a:rPr sz="1500" dirty="0" err="1">
                <a:solidFill>
                  <a:srgbClr val="545C65"/>
                </a:solidFill>
                <a:latin typeface="Aptos"/>
              </a:rPr>
              <a:t>franja</a:t>
            </a:r>
            <a:r>
              <a:rPr sz="1500" dirty="0">
                <a:solidFill>
                  <a:srgbClr val="545C65"/>
                </a:solidFill>
                <a:latin typeface="Aptos"/>
              </a:rPr>
              <a:t> </a:t>
            </a:r>
            <a:r>
              <a:rPr sz="1500" dirty="0" err="1">
                <a:solidFill>
                  <a:srgbClr val="545C65"/>
                </a:solidFill>
                <a:latin typeface="Aptos"/>
              </a:rPr>
              <a:t>horaria</a:t>
            </a:r>
            <a:r>
              <a:rPr sz="1500" dirty="0">
                <a:solidFill>
                  <a:srgbClr val="545C65"/>
                </a:solidFill>
                <a:latin typeface="Aptos"/>
              </a:rPr>
              <a:t>, barrio y </a:t>
            </a:r>
            <a:r>
              <a:rPr sz="1500" dirty="0" err="1">
                <a:solidFill>
                  <a:srgbClr val="545C65"/>
                </a:solidFill>
                <a:latin typeface="Aptos"/>
              </a:rPr>
              <a:t>distrito</a:t>
            </a:r>
            <a:endParaRPr sz="1500" dirty="0">
              <a:solidFill>
                <a:srgbClr val="545C65"/>
              </a:solidFill>
              <a:latin typeface="Apto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93192" y="4485876"/>
            <a:ext cx="128016" cy="128016"/>
          </a:xfrm>
          <a:prstGeom prst="ellipse">
            <a:avLst/>
          </a:prstGeom>
          <a:solidFill>
            <a:srgbClr val="D4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398264"/>
            <a:ext cx="557784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 dirty="0" err="1">
                <a:solidFill>
                  <a:srgbClr val="545C65"/>
                </a:solidFill>
                <a:latin typeface="Aptos"/>
              </a:rPr>
              <a:t>Apoyo</a:t>
            </a:r>
            <a:r>
              <a:rPr sz="1300" b="0" i="0" dirty="0">
                <a:solidFill>
                  <a:srgbClr val="545C65"/>
                </a:solidFill>
                <a:latin typeface="Aptos"/>
              </a:rPr>
              <a:t> </a:t>
            </a:r>
            <a:r>
              <a:rPr sz="1500" dirty="0">
                <a:solidFill>
                  <a:srgbClr val="545C65"/>
                </a:solidFill>
                <a:latin typeface="Aptos"/>
              </a:rPr>
              <a:t>a la </a:t>
            </a:r>
            <a:r>
              <a:rPr sz="1500" dirty="0" err="1">
                <a:solidFill>
                  <a:srgbClr val="545C65"/>
                </a:solidFill>
                <a:latin typeface="Aptos"/>
              </a:rPr>
              <a:t>planificación</a:t>
            </a:r>
            <a:r>
              <a:rPr sz="1500" dirty="0">
                <a:solidFill>
                  <a:srgbClr val="545C65"/>
                </a:solidFill>
                <a:latin typeface="Aptos"/>
              </a:rPr>
              <a:t> de </a:t>
            </a:r>
            <a:r>
              <a:rPr sz="1500" dirty="0" err="1">
                <a:solidFill>
                  <a:srgbClr val="545C65"/>
                </a:solidFill>
                <a:latin typeface="Aptos"/>
              </a:rPr>
              <a:t>fiscalización</a:t>
            </a:r>
            <a:r>
              <a:rPr sz="1500" dirty="0">
                <a:solidFill>
                  <a:srgbClr val="545C65"/>
                </a:solidFill>
                <a:latin typeface="Aptos"/>
              </a:rPr>
              <a:t> y de </a:t>
            </a:r>
            <a:r>
              <a:rPr sz="1500" dirty="0" err="1">
                <a:solidFill>
                  <a:srgbClr val="545C65"/>
                </a:solidFill>
                <a:latin typeface="Aptos"/>
              </a:rPr>
              <a:t>recursos</a:t>
            </a:r>
            <a:r>
              <a:rPr sz="1500" dirty="0">
                <a:solidFill>
                  <a:srgbClr val="545C65"/>
                </a:solidFill>
                <a:latin typeface="Aptos"/>
              </a:rPr>
              <a:t> de </a:t>
            </a:r>
            <a:r>
              <a:rPr sz="1500" dirty="0" err="1">
                <a:solidFill>
                  <a:srgbClr val="545C65"/>
                </a:solidFill>
                <a:latin typeface="Aptos"/>
              </a:rPr>
              <a:t>emergencia</a:t>
            </a:r>
            <a:endParaRPr sz="1500" dirty="0">
              <a:solidFill>
                <a:srgbClr val="545C65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8595" y="5349238"/>
            <a:ext cx="4853354" cy="1254761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D4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78595" y="5427352"/>
            <a:ext cx="4853354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AR" sz="1150" b="1" i="0" dirty="0" smtClean="0">
                <a:solidFill>
                  <a:schemeClr val="accent4">
                    <a:lumMod val="75000"/>
                  </a:schemeClr>
                </a:solidFill>
                <a:latin typeface="Gotham Medium"/>
                <a:hlinkClick r:id="rId3" invalidUrl="https:///"/>
              </a:rPr>
              <a:t>https://</a:t>
            </a:r>
            <a:r>
              <a:rPr lang="es-AR" sz="1150" b="1" i="0" dirty="0" smtClean="0">
                <a:solidFill>
                  <a:schemeClr val="accent4">
                    <a:lumMod val="75000"/>
                  </a:schemeClr>
                </a:solidFill>
                <a:latin typeface="Gotham Medium"/>
                <a:hlinkClick r:id="rId4" tooltip="Aplicación Web"/>
              </a:rPr>
              <a:t>malenairisarri.shinyapps.io/siniestralidad_vial_rosario2024</a:t>
            </a:r>
            <a:r>
              <a:rPr lang="es-AR" sz="1150" b="1" i="0" dirty="0" smtClean="0">
                <a:solidFill>
                  <a:schemeClr val="accent4">
                    <a:lumMod val="75000"/>
                  </a:schemeClr>
                </a:solidFill>
                <a:latin typeface="Gotham Medium"/>
                <a:hlinkClick r:id="rId4"/>
              </a:rPr>
              <a:t>/</a:t>
            </a:r>
            <a:endParaRPr sz="1150" b="1" i="0" dirty="0">
              <a:solidFill>
                <a:schemeClr val="accent4">
                  <a:lumMod val="75000"/>
                </a:schemeClr>
              </a:solidFill>
              <a:latin typeface="Gotham Medium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155680" y="6537960"/>
            <a:ext cx="457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 smtClean="0">
                <a:solidFill>
                  <a:srgbClr val="545C65"/>
                </a:solidFill>
                <a:latin typeface="Aptos"/>
              </a:rPr>
              <a:t>1</a:t>
            </a:r>
            <a:r>
              <a:rPr lang="es-ES" sz="900" b="0" i="0" dirty="0" smtClean="0">
                <a:solidFill>
                  <a:srgbClr val="545C65"/>
                </a:solidFill>
                <a:latin typeface="Aptos"/>
              </a:rPr>
              <a:t>1</a:t>
            </a:r>
            <a:endParaRPr sz="900" b="0" i="0" dirty="0">
              <a:solidFill>
                <a:srgbClr val="545C65"/>
              </a:solidFill>
              <a:latin typeface="Aptos"/>
            </a:endParaRPr>
          </a:p>
        </p:txBody>
      </p:sp>
      <p:grpSp>
        <p:nvGrpSpPr>
          <p:cNvPr id="2" name="1 Grupo"/>
          <p:cNvGrpSpPr/>
          <p:nvPr/>
        </p:nvGrpSpPr>
        <p:grpSpPr>
          <a:xfrm>
            <a:off x="6291072" y="1559053"/>
            <a:ext cx="5392928" cy="3552210"/>
            <a:chOff x="6903720" y="1874519"/>
            <a:chExt cx="4780280" cy="3236743"/>
          </a:xfrm>
        </p:grpSpPr>
        <p:sp>
          <p:nvSpPr>
            <p:cNvPr id="16" name="Rounded Rectangle 15"/>
            <p:cNvSpPr/>
            <p:nvPr/>
          </p:nvSpPr>
          <p:spPr>
            <a:xfrm>
              <a:off x="6903720" y="1874519"/>
              <a:ext cx="4780280" cy="3236743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875">
              <a:solidFill>
                <a:srgbClr val="EFF3F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903720" y="1874519"/>
              <a:ext cx="4780280" cy="365760"/>
            </a:xfrm>
            <a:prstGeom prst="roundRect">
              <a:avLst/>
            </a:prstGeom>
            <a:solidFill>
              <a:srgbClr val="EFF3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Oval 17"/>
            <p:cNvSpPr/>
            <p:nvPr/>
          </p:nvSpPr>
          <p:spPr>
            <a:xfrm>
              <a:off x="7059168" y="2011680"/>
              <a:ext cx="128016" cy="128016"/>
            </a:xfrm>
            <a:prstGeom prst="ellipse">
              <a:avLst/>
            </a:prstGeom>
            <a:solidFill>
              <a:srgbClr val="FFB4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Oval 18"/>
            <p:cNvSpPr/>
            <p:nvPr/>
          </p:nvSpPr>
          <p:spPr>
            <a:xfrm>
              <a:off x="7296912" y="2011680"/>
              <a:ext cx="128016" cy="128016"/>
            </a:xfrm>
            <a:prstGeom prst="ellipse">
              <a:avLst/>
            </a:prstGeom>
            <a:solidFill>
              <a:srgbClr val="F7D4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Oval 19"/>
            <p:cNvSpPr/>
            <p:nvPr/>
          </p:nvSpPr>
          <p:spPr>
            <a:xfrm>
              <a:off x="7534656" y="2011680"/>
              <a:ext cx="128016" cy="128016"/>
            </a:xfrm>
            <a:prstGeom prst="ellipse">
              <a:avLst/>
            </a:prstGeom>
            <a:solidFill>
              <a:srgbClr val="9CD6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540125" y="4594744"/>
              <a:ext cx="3520440" cy="14619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950" b="0" i="1" dirty="0">
                  <a:solidFill>
                    <a:srgbClr val="545C65"/>
                  </a:solidFill>
                  <a:latin typeface="Aptos"/>
                </a:rPr>
                <a:t>Vista </a:t>
              </a:r>
              <a:r>
                <a:rPr sz="950" b="0" i="1" dirty="0" smtClean="0">
                  <a:solidFill>
                    <a:srgbClr val="545C65"/>
                  </a:solidFill>
                  <a:latin typeface="Aptos"/>
                </a:rPr>
                <a:t>de </a:t>
              </a:r>
              <a:r>
                <a:rPr sz="950" b="0" i="1" dirty="0">
                  <a:solidFill>
                    <a:srgbClr val="545C65"/>
                  </a:solidFill>
                  <a:latin typeface="Aptos"/>
                </a:rPr>
                <a:t>la </a:t>
              </a:r>
              <a:r>
                <a:rPr sz="950" b="0" i="1" dirty="0" err="1">
                  <a:solidFill>
                    <a:srgbClr val="545C65"/>
                  </a:solidFill>
                  <a:latin typeface="Aptos"/>
                </a:rPr>
                <a:t>aplicación</a:t>
              </a:r>
              <a:endParaRPr sz="950" b="0" i="1" dirty="0">
                <a:solidFill>
                  <a:srgbClr val="545C65"/>
                </a:solidFill>
                <a:latin typeface="Aptos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9168" y="2423160"/>
              <a:ext cx="4482354" cy="2044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6" name="25 Imagen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302" y="5604324"/>
            <a:ext cx="971940" cy="97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698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="" xmlns:a16="http://schemas.microsoft.com/office/drawing/2014/main" id="{48051C4E-A246-9B4E-D593-21C3D257E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1346" y="1170432"/>
            <a:ext cx="104241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ES" sz="2800" b="1" i="0" dirty="0" smtClean="0">
                <a:solidFill>
                  <a:srgbClr val="132A4D"/>
                </a:solidFill>
                <a:latin typeface="Gotham Medium"/>
              </a:rPr>
              <a:t>Del Ranking a la Acción</a:t>
            </a:r>
            <a:endParaRPr sz="2800" b="1" i="0" dirty="0">
              <a:solidFill>
                <a:srgbClr val="132A4D"/>
              </a:solidFill>
              <a:latin typeface="Gotham Medium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55680" y="6537960"/>
            <a:ext cx="457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 smtClean="0">
                <a:solidFill>
                  <a:srgbClr val="545C65"/>
                </a:solidFill>
                <a:latin typeface="Aptos"/>
              </a:rPr>
              <a:t>1</a:t>
            </a:r>
            <a:r>
              <a:rPr lang="es-ES" sz="900" b="0" i="0" dirty="0" smtClean="0">
                <a:solidFill>
                  <a:srgbClr val="545C65"/>
                </a:solidFill>
                <a:latin typeface="Aptos"/>
              </a:rPr>
              <a:t>2</a:t>
            </a:r>
            <a:endParaRPr sz="900" b="0" i="0" dirty="0">
              <a:solidFill>
                <a:srgbClr val="545C65"/>
              </a:solidFill>
              <a:latin typeface="Aptos"/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393192" y="1617899"/>
            <a:ext cx="51684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400" dirty="0">
                <a:solidFill>
                  <a:srgbClr val="545C65"/>
                </a:solidFill>
                <a:latin typeface="Gotham Medium"/>
              </a:rPr>
              <a:t>¿Cómo se utiliza esta información para la toma de decisiones?</a:t>
            </a:r>
          </a:p>
        </p:txBody>
      </p:sp>
      <p:grpSp>
        <p:nvGrpSpPr>
          <p:cNvPr id="39" name="38 Grupo"/>
          <p:cNvGrpSpPr/>
          <p:nvPr/>
        </p:nvGrpSpPr>
        <p:grpSpPr>
          <a:xfrm>
            <a:off x="656493" y="2599006"/>
            <a:ext cx="5062063" cy="1920240"/>
            <a:chOff x="434966" y="2599006"/>
            <a:chExt cx="5062063" cy="1920240"/>
          </a:xfrm>
        </p:grpSpPr>
        <p:sp>
          <p:nvSpPr>
            <p:cNvPr id="29" name="Rounded Rectangle 4"/>
            <p:cNvSpPr/>
            <p:nvPr/>
          </p:nvSpPr>
          <p:spPr>
            <a:xfrm>
              <a:off x="434966" y="2599006"/>
              <a:ext cx="3029946" cy="1920240"/>
            </a:xfrm>
            <a:prstGeom prst="roundRect">
              <a:avLst>
                <a:gd name="adj" fmla="val 6000"/>
              </a:avLst>
            </a:prstGeom>
            <a:solidFill>
              <a:srgbClr val="EFF3F7"/>
            </a:solidFill>
            <a:ln w="12700">
              <a:solidFill>
                <a:srgbClr val="1D43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Oval 6"/>
            <p:cNvSpPr/>
            <p:nvPr/>
          </p:nvSpPr>
          <p:spPr>
            <a:xfrm>
              <a:off x="594360" y="2715768"/>
              <a:ext cx="411480" cy="411480"/>
            </a:xfrm>
            <a:prstGeom prst="ellipse">
              <a:avLst/>
            </a:prstGeom>
            <a:solidFill>
              <a:srgbClr val="D40E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600" b="1" i="0">
                  <a:solidFill>
                    <a:srgbClr val="FFFFFF"/>
                  </a:solidFill>
                  <a:latin typeface="Gotham Medium"/>
                </a:rPr>
                <a:t>1</a:t>
              </a:r>
            </a:p>
          </p:txBody>
        </p:sp>
        <p:sp>
          <p:nvSpPr>
            <p:cNvPr id="24" name="TextBox 6"/>
            <p:cNvSpPr txBox="1"/>
            <p:nvPr/>
          </p:nvSpPr>
          <p:spPr>
            <a:xfrm>
              <a:off x="1107909" y="2806092"/>
              <a:ext cx="4389120" cy="2308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s-ES" sz="1500" b="1" i="0" dirty="0" smtClean="0">
                  <a:solidFill>
                    <a:srgbClr val="132A4D"/>
                  </a:solidFill>
                  <a:latin typeface="Gotham Medium"/>
                </a:rPr>
                <a:t>Información disponible</a:t>
              </a:r>
              <a:endParaRPr sz="1500" b="1" i="0" dirty="0">
                <a:solidFill>
                  <a:srgbClr val="132A4D"/>
                </a:solidFill>
                <a:latin typeface="Gotham Medium"/>
              </a:endParaRPr>
            </a:p>
          </p:txBody>
        </p:sp>
        <p:sp>
          <p:nvSpPr>
            <p:cNvPr id="25" name="24 Rectángulo"/>
            <p:cNvSpPr/>
            <p:nvPr/>
          </p:nvSpPr>
          <p:spPr>
            <a:xfrm>
              <a:off x="656493" y="3282351"/>
              <a:ext cx="2586892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s-ES" sz="1400" dirty="0">
                  <a:solidFill>
                    <a:srgbClr val="545C65"/>
                  </a:solidFill>
                  <a:latin typeface="Gotham Medium"/>
                </a:rPr>
                <a:t>Los puntos con control electrónico generan información </a:t>
              </a:r>
              <a:r>
                <a:rPr lang="es-ES" sz="1400" dirty="0" smtClean="0">
                  <a:solidFill>
                    <a:srgbClr val="545C65"/>
                  </a:solidFill>
                  <a:latin typeface="Gotham Medium"/>
                </a:rPr>
                <a:t>sobre </a:t>
              </a:r>
              <a:r>
                <a:rPr lang="es-ES" sz="1400" dirty="0">
                  <a:solidFill>
                    <a:srgbClr val="545C65"/>
                  </a:solidFill>
                  <a:latin typeface="Gotham Medium"/>
                </a:rPr>
                <a:t>las intersecciones </a:t>
              </a:r>
              <a:r>
                <a:rPr lang="es-ES" sz="1400" dirty="0" smtClean="0">
                  <a:solidFill>
                    <a:srgbClr val="545C65"/>
                  </a:solidFill>
                  <a:latin typeface="Gotham Medium"/>
                </a:rPr>
                <a:t>monitoreadas.</a:t>
              </a:r>
              <a:endParaRPr lang="es-ES" sz="1400" dirty="0">
                <a:solidFill>
                  <a:srgbClr val="545C65"/>
                </a:solidFill>
                <a:latin typeface="Gotham Medium"/>
              </a:endParaRPr>
            </a:p>
          </p:txBody>
        </p:sp>
      </p:grpSp>
      <p:grpSp>
        <p:nvGrpSpPr>
          <p:cNvPr id="38" name="37 Grupo"/>
          <p:cNvGrpSpPr/>
          <p:nvPr/>
        </p:nvGrpSpPr>
        <p:grpSpPr>
          <a:xfrm>
            <a:off x="4304913" y="2599006"/>
            <a:ext cx="4983913" cy="1920240"/>
            <a:chOff x="4017929" y="2599006"/>
            <a:chExt cx="4983913" cy="1920240"/>
          </a:xfrm>
        </p:grpSpPr>
        <p:sp>
          <p:nvSpPr>
            <p:cNvPr id="30" name="Rounded Rectangle 4"/>
            <p:cNvSpPr/>
            <p:nvPr/>
          </p:nvSpPr>
          <p:spPr>
            <a:xfrm>
              <a:off x="4017929" y="2599006"/>
              <a:ext cx="3029946" cy="1920240"/>
            </a:xfrm>
            <a:prstGeom prst="roundRect">
              <a:avLst>
                <a:gd name="adj" fmla="val 6000"/>
              </a:avLst>
            </a:prstGeom>
            <a:solidFill>
              <a:srgbClr val="EFF3F7"/>
            </a:solidFill>
            <a:ln w="12700">
              <a:solidFill>
                <a:srgbClr val="1D43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Oval 6"/>
            <p:cNvSpPr/>
            <p:nvPr/>
          </p:nvSpPr>
          <p:spPr>
            <a:xfrm>
              <a:off x="4099173" y="2676411"/>
              <a:ext cx="411480" cy="411480"/>
            </a:xfrm>
            <a:prstGeom prst="ellipse">
              <a:avLst/>
            </a:prstGeom>
            <a:solidFill>
              <a:srgbClr val="D40E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" sz="1600" b="1" dirty="0">
                  <a:solidFill>
                    <a:srgbClr val="FFFFFF"/>
                  </a:solidFill>
                  <a:latin typeface="Gotham Medium"/>
                </a:rPr>
                <a:t>2</a:t>
              </a:r>
              <a:endParaRPr sz="1600" b="1" i="0" dirty="0">
                <a:solidFill>
                  <a:srgbClr val="FFFFFF"/>
                </a:solidFill>
                <a:latin typeface="Gotham Medium"/>
              </a:endParaRPr>
            </a:p>
          </p:txBody>
        </p:sp>
        <p:sp>
          <p:nvSpPr>
            <p:cNvPr id="27" name="TextBox 6"/>
            <p:cNvSpPr txBox="1"/>
            <p:nvPr/>
          </p:nvSpPr>
          <p:spPr>
            <a:xfrm>
              <a:off x="4612722" y="2766735"/>
              <a:ext cx="4389120" cy="2308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s-ES" sz="1500" b="1" i="0" dirty="0" smtClean="0">
                  <a:solidFill>
                    <a:srgbClr val="132A4D"/>
                  </a:solidFill>
                  <a:latin typeface="Gotham Medium"/>
                </a:rPr>
                <a:t>Identificar puntos nuevos</a:t>
              </a:r>
              <a:endParaRPr sz="1500" b="1" i="0" dirty="0">
                <a:solidFill>
                  <a:srgbClr val="132A4D"/>
                </a:solidFill>
                <a:latin typeface="Gotham Medium"/>
              </a:endParaRPr>
            </a:p>
          </p:txBody>
        </p:sp>
        <p:sp>
          <p:nvSpPr>
            <p:cNvPr id="28" name="27 Rectángulo"/>
            <p:cNvSpPr/>
            <p:nvPr/>
          </p:nvSpPr>
          <p:spPr>
            <a:xfrm>
              <a:off x="4161306" y="3242994"/>
              <a:ext cx="2586892" cy="8737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s-ES" sz="1400" dirty="0">
                  <a:solidFill>
                    <a:srgbClr val="545C65"/>
                  </a:solidFill>
                  <a:latin typeface="Gotham Medium"/>
                </a:rPr>
                <a:t>El ranking permite extender el análisis </a:t>
              </a:r>
              <a:r>
                <a:rPr lang="es-ES" sz="1400" dirty="0" smtClean="0">
                  <a:solidFill>
                    <a:srgbClr val="545C65"/>
                  </a:solidFill>
                  <a:latin typeface="Gotham Medium"/>
                </a:rPr>
                <a:t>a </a:t>
              </a:r>
              <a:r>
                <a:rPr lang="es-ES" sz="1400" dirty="0">
                  <a:solidFill>
                    <a:srgbClr val="545C65"/>
                  </a:solidFill>
                  <a:latin typeface="Gotham Medium"/>
                </a:rPr>
                <a:t>intersecciones </a:t>
              </a:r>
              <a:r>
                <a:rPr lang="es-ES" sz="1400" dirty="0" smtClean="0">
                  <a:solidFill>
                    <a:srgbClr val="545C65"/>
                  </a:solidFill>
                  <a:latin typeface="Gotham Medium"/>
                </a:rPr>
                <a:t>sin controles ni mediciones.</a:t>
              </a:r>
              <a:endParaRPr lang="es-ES" sz="1400" dirty="0">
                <a:solidFill>
                  <a:srgbClr val="545C65"/>
                </a:solidFill>
                <a:latin typeface="Gotham Medium"/>
              </a:endParaRPr>
            </a:p>
          </p:txBody>
        </p:sp>
      </p:grpSp>
      <p:grpSp>
        <p:nvGrpSpPr>
          <p:cNvPr id="37" name="36 Grupo"/>
          <p:cNvGrpSpPr/>
          <p:nvPr/>
        </p:nvGrpSpPr>
        <p:grpSpPr>
          <a:xfrm>
            <a:off x="7971419" y="2599006"/>
            <a:ext cx="4983913" cy="1920240"/>
            <a:chOff x="7565019" y="2599006"/>
            <a:chExt cx="4983913" cy="1920240"/>
          </a:xfrm>
        </p:grpSpPr>
        <p:sp>
          <p:nvSpPr>
            <p:cNvPr id="31" name="Rounded Rectangle 4"/>
            <p:cNvSpPr/>
            <p:nvPr/>
          </p:nvSpPr>
          <p:spPr>
            <a:xfrm>
              <a:off x="7565019" y="2599006"/>
              <a:ext cx="3029946" cy="1920240"/>
            </a:xfrm>
            <a:prstGeom prst="roundRect">
              <a:avLst>
                <a:gd name="adj" fmla="val 6000"/>
              </a:avLst>
            </a:prstGeom>
            <a:solidFill>
              <a:srgbClr val="EFF3F7"/>
            </a:solidFill>
            <a:ln w="12700">
              <a:solidFill>
                <a:srgbClr val="1D43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Oval 6"/>
            <p:cNvSpPr/>
            <p:nvPr/>
          </p:nvSpPr>
          <p:spPr>
            <a:xfrm>
              <a:off x="7646263" y="2676411"/>
              <a:ext cx="411480" cy="411480"/>
            </a:xfrm>
            <a:prstGeom prst="ellipse">
              <a:avLst/>
            </a:prstGeom>
            <a:solidFill>
              <a:srgbClr val="D40E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" sz="1600" b="1" dirty="0">
                  <a:solidFill>
                    <a:srgbClr val="FFFFFF"/>
                  </a:solidFill>
                  <a:latin typeface="Gotham Medium"/>
                </a:rPr>
                <a:t>3</a:t>
              </a:r>
              <a:endParaRPr sz="1600" b="1" i="0" dirty="0">
                <a:solidFill>
                  <a:srgbClr val="FFFFFF"/>
                </a:solidFill>
                <a:latin typeface="Gotham Medium"/>
              </a:endParaRPr>
            </a:p>
          </p:txBody>
        </p:sp>
        <p:sp>
          <p:nvSpPr>
            <p:cNvPr id="33" name="TextBox 6"/>
            <p:cNvSpPr txBox="1"/>
            <p:nvPr/>
          </p:nvSpPr>
          <p:spPr>
            <a:xfrm>
              <a:off x="8159812" y="2766735"/>
              <a:ext cx="4389120" cy="2308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s-ES" sz="1500" b="1" i="0" dirty="0" smtClean="0">
                  <a:solidFill>
                    <a:srgbClr val="132A4D"/>
                  </a:solidFill>
                  <a:latin typeface="Gotham Medium"/>
                </a:rPr>
                <a:t>Priorizar la rotación</a:t>
              </a:r>
              <a:endParaRPr sz="1500" b="1" i="0" dirty="0">
                <a:solidFill>
                  <a:srgbClr val="132A4D"/>
                </a:solidFill>
                <a:latin typeface="Gotham Medium"/>
              </a:endParaRPr>
            </a:p>
          </p:txBody>
        </p:sp>
        <p:sp>
          <p:nvSpPr>
            <p:cNvPr id="34" name="33 Rectángulo"/>
            <p:cNvSpPr/>
            <p:nvPr/>
          </p:nvSpPr>
          <p:spPr>
            <a:xfrm>
              <a:off x="7708396" y="3242994"/>
              <a:ext cx="2586892" cy="11430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s-ES" sz="1400" dirty="0" smtClean="0">
                  <a:solidFill>
                    <a:srgbClr val="545C65"/>
                  </a:solidFill>
                  <a:latin typeface="Gotham Medium"/>
                </a:rPr>
                <a:t>La </a:t>
              </a:r>
              <a:r>
                <a:rPr lang="es-ES" sz="1400" dirty="0">
                  <a:solidFill>
                    <a:srgbClr val="545C65"/>
                  </a:solidFill>
                  <a:latin typeface="Gotham Medium"/>
                </a:rPr>
                <a:t>información se utilizó como insumo central para </a:t>
              </a:r>
              <a:r>
                <a:rPr lang="es-ES" sz="1400" dirty="0" smtClean="0">
                  <a:solidFill>
                    <a:srgbClr val="545C65"/>
                  </a:solidFill>
                  <a:latin typeface="Gotham Medium"/>
                </a:rPr>
                <a:t>el plan de rotación</a:t>
              </a:r>
              <a:r>
                <a:rPr lang="es-ES" sz="1400" dirty="0">
                  <a:solidFill>
                    <a:srgbClr val="545C65"/>
                  </a:solidFill>
                  <a:latin typeface="Gotham Medium"/>
                </a:rPr>
                <a:t> del control de cruce de semáforo en </a:t>
              </a:r>
              <a:r>
                <a:rPr lang="es-ES" sz="1400" dirty="0" smtClean="0">
                  <a:solidFill>
                    <a:srgbClr val="545C65"/>
                  </a:solidFill>
                  <a:latin typeface="Gotham Medium"/>
                </a:rPr>
                <a:t>rojo 2026.</a:t>
              </a:r>
              <a:endParaRPr lang="es-ES" sz="1400" dirty="0">
                <a:solidFill>
                  <a:srgbClr val="545C65"/>
                </a:solidFill>
                <a:latin typeface="Gotham Medium"/>
              </a:endParaRPr>
            </a:p>
          </p:txBody>
        </p:sp>
      </p:grpSp>
      <p:sp>
        <p:nvSpPr>
          <p:cNvPr id="36" name="Rounded Rectangle 8"/>
          <p:cNvSpPr/>
          <p:nvPr/>
        </p:nvSpPr>
        <p:spPr>
          <a:xfrm>
            <a:off x="1320801" y="5122832"/>
            <a:ext cx="9274164" cy="1043506"/>
          </a:xfrm>
          <a:prstGeom prst="roundRect">
            <a:avLst/>
          </a:prstGeom>
          <a:solidFill>
            <a:srgbClr val="F6E9EA"/>
          </a:solidFill>
          <a:ln>
            <a:solidFill>
              <a:srgbClr val="D40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s-ES" sz="1500" dirty="0">
                <a:solidFill>
                  <a:schemeClr val="tx1"/>
                </a:solidFill>
                <a:latin typeface="Gotham Medium"/>
              </a:rPr>
              <a:t>DE ESTA MANERA, EL RANKING DEJA DE SER SOLO UN RESULTADO Y SE CONVIERTE EN </a:t>
            </a:r>
            <a:r>
              <a:rPr lang="es-ES" sz="1500" dirty="0" smtClean="0">
                <a:solidFill>
                  <a:schemeClr val="tx1"/>
                </a:solidFill>
                <a:latin typeface="Gotham Medium"/>
              </a:rPr>
              <a:t>UNA</a:t>
            </a:r>
          </a:p>
          <a:p>
            <a:pPr algn="ctr">
              <a:lnSpc>
                <a:spcPct val="150000"/>
              </a:lnSpc>
            </a:pPr>
            <a:r>
              <a:rPr lang="es-ES" sz="2000" b="1" dirty="0">
                <a:solidFill>
                  <a:srgbClr val="D40E25"/>
                </a:solidFill>
                <a:latin typeface="Gotham Medium"/>
              </a:rPr>
              <a:t>HERRAMIENTA PARA LA TOMA DE DECISIONES</a:t>
            </a:r>
            <a:endParaRPr sz="2000" b="1" dirty="0">
              <a:solidFill>
                <a:srgbClr val="D40E25"/>
              </a:solidFill>
              <a:latin typeface="Gotham Medium"/>
            </a:endParaRPr>
          </a:p>
        </p:txBody>
      </p:sp>
      <p:sp>
        <p:nvSpPr>
          <p:cNvPr id="40" name="Right Arrow 9"/>
          <p:cNvSpPr/>
          <p:nvPr/>
        </p:nvSpPr>
        <p:spPr>
          <a:xfrm>
            <a:off x="3848567" y="3367532"/>
            <a:ext cx="324848" cy="19159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4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ight Arrow 9"/>
          <p:cNvSpPr/>
          <p:nvPr/>
        </p:nvSpPr>
        <p:spPr>
          <a:xfrm>
            <a:off x="7510074" y="3367532"/>
            <a:ext cx="324848" cy="19159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4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2947" y="575443"/>
            <a:ext cx="2863064" cy="2863064"/>
          </a:xfrm>
          <a:prstGeom prst="rect">
            <a:avLst/>
          </a:prstGeom>
          <a:scene3d>
            <a:camera prst="orthographicFront">
              <a:rot lat="0" lon="11399999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4792869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="" xmlns:a16="http://schemas.microsoft.com/office/drawing/2014/main" id="{48051C4E-A246-9B4E-D593-21C3D257E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192" y="1170432"/>
            <a:ext cx="104241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ES" sz="2800" b="1" i="0" dirty="0" smtClean="0">
                <a:solidFill>
                  <a:srgbClr val="132A4D"/>
                </a:solidFill>
                <a:latin typeface="Gotham Medium"/>
              </a:rPr>
              <a:t>Conclusiones</a:t>
            </a:r>
            <a:endParaRPr sz="2800" b="1" i="0" dirty="0">
              <a:solidFill>
                <a:srgbClr val="132A4D"/>
              </a:solidFill>
              <a:latin typeface="Gotham Medium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93192" y="196596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 w="12700">
            <a:solidFill>
              <a:srgbClr val="1D4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9224" y="2185415"/>
            <a:ext cx="384048" cy="384048"/>
          </a:xfrm>
          <a:prstGeom prst="ellipse">
            <a:avLst/>
          </a:prstGeom>
          <a:solidFill>
            <a:srgbClr val="D4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Gotham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167128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 err="1">
                <a:solidFill>
                  <a:srgbClr val="132A4D"/>
                </a:solidFill>
                <a:latin typeface="Gotham Medium"/>
              </a:rPr>
              <a:t>Concentración</a:t>
            </a:r>
            <a:r>
              <a:rPr sz="1500" b="1" i="0" dirty="0">
                <a:solidFill>
                  <a:srgbClr val="132A4D"/>
                </a:solidFill>
                <a:latin typeface="Gotham Medium"/>
              </a:rPr>
              <a:t> </a:t>
            </a:r>
            <a:r>
              <a:rPr sz="1500" b="1" i="0" dirty="0" err="1">
                <a:solidFill>
                  <a:srgbClr val="132A4D"/>
                </a:solidFill>
                <a:latin typeface="Gotham Medium"/>
              </a:rPr>
              <a:t>espacial</a:t>
            </a:r>
            <a:endParaRPr sz="1500" b="1" i="0" dirty="0">
              <a:solidFill>
                <a:srgbClr val="132A4D"/>
              </a:solidFill>
              <a:latin typeface="Gotham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" y="2743200"/>
            <a:ext cx="484632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s-ES" sz="1200" dirty="0">
                <a:solidFill>
                  <a:srgbClr val="545C65"/>
                </a:solidFill>
                <a:latin typeface="Aptos"/>
              </a:rPr>
              <a:t>Los siniestros no se distribuyen uniformemente en la ciudad. </a:t>
            </a:r>
            <a:r>
              <a:rPr sz="1200" b="0" i="0" dirty="0" smtClean="0">
                <a:solidFill>
                  <a:srgbClr val="545C65"/>
                </a:solidFill>
                <a:latin typeface="Aptos"/>
              </a:rPr>
              <a:t>La </a:t>
            </a:r>
            <a:r>
              <a:rPr sz="1200" b="0" i="0" dirty="0" err="1">
                <a:solidFill>
                  <a:srgbClr val="545C65"/>
                </a:solidFill>
                <a:latin typeface="Aptos"/>
              </a:rPr>
              <a:t>siniestralidad</a:t>
            </a:r>
            <a:r>
              <a:rPr sz="1200" b="0" i="0" dirty="0">
                <a:solidFill>
                  <a:srgbClr val="545C65"/>
                </a:solidFill>
                <a:latin typeface="Aptos"/>
              </a:rPr>
              <a:t> se </a:t>
            </a:r>
            <a:r>
              <a:rPr sz="1200" b="0" i="0" dirty="0" err="1">
                <a:solidFill>
                  <a:srgbClr val="545C65"/>
                </a:solidFill>
                <a:latin typeface="Aptos"/>
              </a:rPr>
              <a:t>concentra</a:t>
            </a:r>
            <a:r>
              <a:rPr sz="1200" b="0" i="0" dirty="0">
                <a:solidFill>
                  <a:srgbClr val="545C65"/>
                </a:solidFill>
                <a:latin typeface="Aptos"/>
              </a:rPr>
              <a:t> en el </a:t>
            </a:r>
            <a:r>
              <a:rPr sz="1200" b="0" i="0" dirty="0" err="1">
                <a:solidFill>
                  <a:srgbClr val="545C65"/>
                </a:solidFill>
                <a:latin typeface="Aptos"/>
              </a:rPr>
              <a:t>área</a:t>
            </a:r>
            <a:r>
              <a:rPr sz="1200" b="0" i="0" dirty="0">
                <a:solidFill>
                  <a:srgbClr val="545C65"/>
                </a:solidFill>
                <a:latin typeface="Aptos"/>
              </a:rPr>
              <a:t> central y en </a:t>
            </a:r>
            <a:r>
              <a:rPr sz="1200" b="0" i="0" dirty="0" err="1">
                <a:solidFill>
                  <a:srgbClr val="545C65"/>
                </a:solidFill>
                <a:latin typeface="Aptos"/>
              </a:rPr>
              <a:t>corredores</a:t>
            </a:r>
            <a:r>
              <a:rPr sz="1200" b="0" i="0" dirty="0">
                <a:solidFill>
                  <a:srgbClr val="545C65"/>
                </a:solidFill>
                <a:latin typeface="Aptos"/>
              </a:rPr>
              <a:t> de </a:t>
            </a:r>
            <a:r>
              <a:rPr sz="1200" b="0" i="0" dirty="0" err="1">
                <a:solidFill>
                  <a:srgbClr val="545C65"/>
                </a:solidFill>
                <a:latin typeface="Aptos"/>
              </a:rPr>
              <a:t>alta</a:t>
            </a:r>
            <a:r>
              <a:rPr sz="1200" b="0" i="0" dirty="0">
                <a:solidFill>
                  <a:srgbClr val="545C65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545C65"/>
                </a:solidFill>
                <a:latin typeface="Aptos"/>
              </a:rPr>
              <a:t>circulación</a:t>
            </a:r>
            <a:r>
              <a:rPr sz="1200" b="0" i="0" dirty="0">
                <a:solidFill>
                  <a:srgbClr val="545C65"/>
                </a:solidFill>
                <a:latin typeface="Aptos"/>
              </a:rPr>
              <a:t> (</a:t>
            </a:r>
            <a:r>
              <a:rPr sz="1200" b="0" i="0" dirty="0" err="1">
                <a:solidFill>
                  <a:srgbClr val="545C65"/>
                </a:solidFill>
                <a:latin typeface="Aptos"/>
              </a:rPr>
              <a:t>Pellegrini</a:t>
            </a:r>
            <a:r>
              <a:rPr sz="1200" b="0" i="0" dirty="0">
                <a:solidFill>
                  <a:srgbClr val="545C65"/>
                </a:solidFill>
                <a:latin typeface="Aptos"/>
              </a:rPr>
              <a:t>, </a:t>
            </a:r>
            <a:r>
              <a:rPr sz="1200" b="0" i="0" dirty="0" err="1">
                <a:solidFill>
                  <a:srgbClr val="545C65"/>
                </a:solidFill>
                <a:latin typeface="Aptos"/>
              </a:rPr>
              <a:t>Oroño</a:t>
            </a:r>
            <a:r>
              <a:rPr sz="1200" b="0" i="0" dirty="0">
                <a:solidFill>
                  <a:srgbClr val="545C65"/>
                </a:solidFill>
                <a:latin typeface="Aptos"/>
              </a:rPr>
              <a:t>, </a:t>
            </a:r>
            <a:r>
              <a:rPr sz="1200" b="0" i="0" dirty="0" err="1">
                <a:solidFill>
                  <a:srgbClr val="545C65"/>
                </a:solidFill>
                <a:latin typeface="Aptos"/>
              </a:rPr>
              <a:t>Francia</a:t>
            </a:r>
            <a:r>
              <a:rPr sz="1200" b="0" i="0" dirty="0">
                <a:solidFill>
                  <a:srgbClr val="545C65"/>
                </a:solidFill>
                <a:latin typeface="Aptos"/>
              </a:rPr>
              <a:t>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312" y="196596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 w="12700">
            <a:solidFill>
              <a:srgbClr val="1D4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181344" y="2185415"/>
            <a:ext cx="384048" cy="384048"/>
          </a:xfrm>
          <a:prstGeom prst="ellipse">
            <a:avLst/>
          </a:prstGeom>
          <a:solidFill>
            <a:srgbClr val="1D4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Gotham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1" y="2257452"/>
            <a:ext cx="43891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ES" sz="1500" b="1" i="0" dirty="0" smtClean="0">
                <a:solidFill>
                  <a:srgbClr val="132A4D"/>
                </a:solidFill>
                <a:latin typeface="Gotham Medium"/>
              </a:rPr>
              <a:t>Es importante tener en cuenta el tránsito</a:t>
            </a:r>
            <a:endParaRPr sz="1500" b="1" i="0" dirty="0">
              <a:solidFill>
                <a:srgbClr val="132A4D"/>
              </a:solidFill>
              <a:latin typeface="Gotham Medium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99631" y="2743200"/>
            <a:ext cx="48463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s-ES" sz="1200" dirty="0">
                <a:solidFill>
                  <a:srgbClr val="545C65"/>
                </a:solidFill>
                <a:latin typeface="Aptos"/>
              </a:rPr>
              <a:t>La peligrosidad no depende sólo del número de siniestros, sino también del </a:t>
            </a:r>
            <a:r>
              <a:rPr lang="es-ES" sz="1200" dirty="0" smtClean="0">
                <a:solidFill>
                  <a:srgbClr val="545C65"/>
                </a:solidFill>
                <a:latin typeface="Aptos"/>
              </a:rPr>
              <a:t>tránsito.</a:t>
            </a:r>
            <a:endParaRPr sz="1200" dirty="0">
              <a:solidFill>
                <a:srgbClr val="545C65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93192" y="411480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 w="12700">
            <a:solidFill>
              <a:srgbClr val="1D4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9224" y="4334256"/>
            <a:ext cx="384048" cy="384048"/>
          </a:xfrm>
          <a:prstGeom prst="ellipse">
            <a:avLst/>
          </a:prstGeom>
          <a:solidFill>
            <a:srgbClr val="1D4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Gotham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406292"/>
            <a:ext cx="43891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ES" sz="1500" b="1" i="0" dirty="0" smtClean="0">
                <a:solidFill>
                  <a:srgbClr val="132A4D"/>
                </a:solidFill>
                <a:latin typeface="Gotham Medium"/>
              </a:rPr>
              <a:t>Fortalezas</a:t>
            </a:r>
            <a:endParaRPr sz="1500" b="1" i="0" dirty="0">
              <a:solidFill>
                <a:srgbClr val="132A4D"/>
              </a:solidFill>
              <a:latin typeface="Gotham Medium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7512" y="4892040"/>
            <a:ext cx="484632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s-ES" sz="1200" dirty="0">
                <a:solidFill>
                  <a:srgbClr val="545C65"/>
                </a:solidFill>
                <a:latin typeface="Aptos"/>
              </a:rPr>
              <a:t>Integración de múltiples fuentes de información</a:t>
            </a:r>
          </a:p>
          <a:p>
            <a:pPr>
              <a:lnSpc>
                <a:spcPct val="125000"/>
              </a:lnSpc>
            </a:pPr>
            <a:r>
              <a:rPr lang="es-AR" sz="1200" dirty="0">
                <a:solidFill>
                  <a:srgbClr val="545C65"/>
                </a:solidFill>
                <a:latin typeface="Aptos"/>
              </a:rPr>
              <a:t>Depuración y </a:t>
            </a:r>
            <a:r>
              <a:rPr lang="es-AR" sz="1200" dirty="0" err="1">
                <a:solidFill>
                  <a:srgbClr val="545C65"/>
                </a:solidFill>
                <a:latin typeface="Aptos"/>
              </a:rPr>
              <a:t>georreferenciación</a:t>
            </a:r>
            <a:endParaRPr lang="es-AR" sz="1200" dirty="0">
              <a:solidFill>
                <a:srgbClr val="545C65"/>
              </a:solidFill>
              <a:latin typeface="Aptos"/>
            </a:endParaRPr>
          </a:p>
          <a:p>
            <a:pPr>
              <a:lnSpc>
                <a:spcPct val="125000"/>
              </a:lnSpc>
            </a:pPr>
            <a:r>
              <a:rPr lang="es-ES" sz="1200" dirty="0">
                <a:solidFill>
                  <a:srgbClr val="545C65"/>
                </a:solidFill>
                <a:latin typeface="Aptos"/>
              </a:rPr>
              <a:t>Aporte metodológico original en Rosario</a:t>
            </a:r>
            <a:endParaRPr sz="1200" dirty="0">
              <a:solidFill>
                <a:srgbClr val="545C65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925312" y="411480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 w="12700">
            <a:solidFill>
              <a:srgbClr val="1D4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181344" y="4334256"/>
            <a:ext cx="384048" cy="384048"/>
          </a:xfrm>
          <a:prstGeom prst="ellipse">
            <a:avLst/>
          </a:prstGeom>
          <a:solidFill>
            <a:srgbClr val="D4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Gotham Medium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1" y="4406292"/>
            <a:ext cx="43891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ES" sz="1500" b="1" i="0" dirty="0" smtClean="0">
                <a:solidFill>
                  <a:srgbClr val="132A4D"/>
                </a:solidFill>
                <a:latin typeface="Gotham Medium"/>
              </a:rPr>
              <a:t>Debilidades</a:t>
            </a:r>
            <a:endParaRPr sz="1500" b="1" i="0" dirty="0">
              <a:solidFill>
                <a:srgbClr val="132A4D"/>
              </a:solidFill>
              <a:latin typeface="Gotham Medium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99631" y="4776623"/>
            <a:ext cx="484632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s-AR" sz="1200" dirty="0">
                <a:solidFill>
                  <a:srgbClr val="545C65"/>
                </a:solidFill>
                <a:latin typeface="Aptos"/>
              </a:rPr>
              <a:t>Flujos vehiculares no reales</a:t>
            </a:r>
          </a:p>
          <a:p>
            <a:pPr>
              <a:lnSpc>
                <a:spcPct val="125000"/>
              </a:lnSpc>
            </a:pPr>
            <a:r>
              <a:rPr lang="es-ES" sz="1200" dirty="0">
                <a:solidFill>
                  <a:srgbClr val="545C65"/>
                </a:solidFill>
                <a:latin typeface="Aptos"/>
              </a:rPr>
              <a:t>Espiras no contabilizan motos y bicicletas</a:t>
            </a:r>
          </a:p>
          <a:p>
            <a:pPr>
              <a:lnSpc>
                <a:spcPct val="125000"/>
              </a:lnSpc>
            </a:pPr>
            <a:r>
              <a:rPr lang="es-AR" sz="1200" dirty="0">
                <a:solidFill>
                  <a:srgbClr val="545C65"/>
                </a:solidFill>
                <a:latin typeface="Aptos"/>
              </a:rPr>
              <a:t>Datos de denuncias desactualizados</a:t>
            </a:r>
          </a:p>
          <a:p>
            <a:pPr>
              <a:lnSpc>
                <a:spcPct val="125000"/>
              </a:lnSpc>
            </a:pPr>
            <a:r>
              <a:rPr lang="es-ES" sz="1200" dirty="0">
                <a:solidFill>
                  <a:srgbClr val="545C65"/>
                </a:solidFill>
                <a:latin typeface="Aptos"/>
              </a:rPr>
              <a:t>Inconsistencias en registro de direcciones</a:t>
            </a:r>
            <a:endParaRPr sz="1200" dirty="0">
              <a:solidFill>
                <a:srgbClr val="545C65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55680" y="6537960"/>
            <a:ext cx="457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dirty="0" smtClean="0">
                <a:solidFill>
                  <a:srgbClr val="545C65"/>
                </a:solidFill>
                <a:latin typeface="Aptos"/>
              </a:rPr>
              <a:t>1</a:t>
            </a:r>
            <a:r>
              <a:rPr lang="es-ES" sz="900" b="0" i="0" dirty="0" smtClean="0">
                <a:solidFill>
                  <a:srgbClr val="545C65"/>
                </a:solidFill>
                <a:latin typeface="Aptos"/>
              </a:rPr>
              <a:t>4</a:t>
            </a:r>
            <a:endParaRPr sz="900" b="0" i="0" dirty="0">
              <a:solidFill>
                <a:srgbClr val="545C65"/>
              </a:solidFill>
              <a:latin typeface="Aptos"/>
            </a:endParaRP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4" t="72861" r="78971" b="4662"/>
          <a:stretch/>
        </p:blipFill>
        <p:spPr>
          <a:xfrm>
            <a:off x="4622805" y="4196860"/>
            <a:ext cx="1071229" cy="900000"/>
          </a:xfrm>
          <a:prstGeom prst="rect">
            <a:avLst/>
          </a:prstGeom>
        </p:spPr>
      </p:pic>
      <p:pic>
        <p:nvPicPr>
          <p:cNvPr id="23" name="22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2" t="74126" r="57332" b="5828"/>
          <a:stretch/>
        </p:blipFill>
        <p:spPr>
          <a:xfrm>
            <a:off x="10037180" y="4143872"/>
            <a:ext cx="1193023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698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="" xmlns:a16="http://schemas.microsoft.com/office/drawing/2014/main" id="{48051C4E-A246-9B4E-D593-21C3D257E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906905"/>
            <a:ext cx="121920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 dirty="0" err="1">
                <a:solidFill>
                  <a:srgbClr val="132A4D"/>
                </a:solidFill>
                <a:latin typeface="Gotham Medium"/>
              </a:rPr>
              <a:t>Muchas</a:t>
            </a:r>
            <a:r>
              <a:rPr sz="4400" b="1" i="0" dirty="0">
                <a:solidFill>
                  <a:srgbClr val="132A4D"/>
                </a:solidFill>
                <a:latin typeface="Gotham Medium"/>
              </a:rPr>
              <a:t> gracias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9998" y="2907412"/>
            <a:ext cx="1487268" cy="45719"/>
          </a:xfrm>
          <a:prstGeom prst="rect">
            <a:avLst/>
          </a:prstGeom>
          <a:solidFill>
            <a:srgbClr val="D40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3232785"/>
            <a:ext cx="12192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i="0" dirty="0" err="1">
                <a:solidFill>
                  <a:srgbClr val="1D4370"/>
                </a:solidFill>
                <a:latin typeface="Gotham Medium"/>
              </a:rPr>
              <a:t>Malena</a:t>
            </a:r>
            <a:r>
              <a:rPr sz="2400" i="0" dirty="0">
                <a:solidFill>
                  <a:srgbClr val="1D4370"/>
                </a:solidFill>
                <a:latin typeface="Gotham Medium"/>
              </a:rPr>
              <a:t> </a:t>
            </a:r>
            <a:r>
              <a:rPr sz="2400" i="0" dirty="0" err="1">
                <a:solidFill>
                  <a:srgbClr val="1D4370"/>
                </a:solidFill>
                <a:latin typeface="Gotham Medium"/>
              </a:rPr>
              <a:t>Irisarri</a:t>
            </a:r>
            <a:endParaRPr sz="2400" i="0" dirty="0">
              <a:solidFill>
                <a:srgbClr val="1D4370"/>
              </a:solidFill>
              <a:latin typeface="Gotham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852237"/>
            <a:ext cx="1219200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500" b="0" i="0" dirty="0" smtClean="0">
                <a:solidFill>
                  <a:srgbClr val="545C65"/>
                </a:solidFill>
                <a:latin typeface="Gotham Medium"/>
              </a:rPr>
              <a:t>Dirección General de Sistemas Inteligentes de Tránsito</a:t>
            </a:r>
          </a:p>
          <a:p>
            <a:pPr algn="ctr">
              <a:lnSpc>
                <a:spcPct val="100000"/>
              </a:lnSpc>
            </a:pPr>
            <a:r>
              <a:rPr lang="es-ES" sz="1500" b="0" i="0" dirty="0" smtClean="0">
                <a:solidFill>
                  <a:srgbClr val="545C65"/>
                </a:solidFill>
                <a:latin typeface="Gotham Medium"/>
              </a:rPr>
              <a:t>Dirección de control electrónico</a:t>
            </a:r>
          </a:p>
          <a:p>
            <a:pPr algn="ctr">
              <a:lnSpc>
                <a:spcPct val="100000"/>
              </a:lnSpc>
            </a:pPr>
            <a:r>
              <a:rPr lang="es-ES" sz="1500" b="0" i="0" dirty="0" smtClean="0">
                <a:solidFill>
                  <a:srgbClr val="545C65"/>
                </a:solidFill>
                <a:latin typeface="Gotham Medium"/>
              </a:rPr>
              <a:t>Municipalidad de Rosario</a:t>
            </a:r>
            <a:endParaRPr sz="1500" b="0" i="0" dirty="0">
              <a:solidFill>
                <a:srgbClr val="545C65"/>
              </a:solidFill>
              <a:latin typeface="Gotham Medium"/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3608100" y="5094268"/>
            <a:ext cx="3312542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b="0" i="0" dirty="0" smtClean="0">
                <a:solidFill>
                  <a:srgbClr val="545C65"/>
                </a:solidFill>
                <a:latin typeface="Gotham Medium"/>
              </a:rPr>
              <a:t>Licenciada en Estadística, UNR</a:t>
            </a:r>
          </a:p>
          <a:p>
            <a:pPr algn="ctr">
              <a:lnSpc>
                <a:spcPct val="100000"/>
              </a:lnSpc>
            </a:pPr>
            <a:r>
              <a:rPr lang="es-ES" dirty="0">
                <a:solidFill>
                  <a:srgbClr val="545C65"/>
                </a:solidFill>
                <a:latin typeface="Gotham Medium"/>
                <a:hlinkClick r:id="rId3"/>
              </a:rPr>
              <a:t>maleirisarri@gmail.com</a:t>
            </a:r>
            <a:endParaRPr lang="es-ES" dirty="0">
              <a:solidFill>
                <a:srgbClr val="545C65"/>
              </a:solidFill>
              <a:latin typeface="Gotham Medium"/>
            </a:endParaRPr>
          </a:p>
          <a:p>
            <a:pPr algn="ctr">
              <a:lnSpc>
                <a:spcPct val="100000"/>
              </a:lnSpc>
            </a:pPr>
            <a:r>
              <a:rPr lang="es-ES" b="0" i="0" dirty="0" err="1" smtClean="0">
                <a:solidFill>
                  <a:srgbClr val="545C65"/>
                </a:solidFill>
                <a:latin typeface="Gotham Medium"/>
              </a:rPr>
              <a:t>Github</a:t>
            </a:r>
            <a:r>
              <a:rPr lang="es-ES" b="0" i="0" dirty="0" smtClean="0">
                <a:solidFill>
                  <a:srgbClr val="545C65"/>
                </a:solidFill>
                <a:latin typeface="Gotham Medium"/>
              </a:rPr>
              <a:t>: </a:t>
            </a:r>
            <a:r>
              <a:rPr lang="es-ES" b="0" i="0" dirty="0" err="1" smtClean="0">
                <a:solidFill>
                  <a:srgbClr val="545C65"/>
                </a:solidFill>
                <a:latin typeface="Gotham Medium"/>
              </a:rPr>
              <a:t>malenairisarri</a:t>
            </a:r>
            <a:endParaRPr b="0" i="0" dirty="0">
              <a:solidFill>
                <a:srgbClr val="545C65"/>
              </a:solidFill>
              <a:latin typeface="Gotham Medium"/>
            </a:endParaRPr>
          </a:p>
        </p:txBody>
      </p:sp>
      <p:pic>
        <p:nvPicPr>
          <p:cNvPr id="10" name="9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642" y="4752084"/>
            <a:ext cx="1515366" cy="151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698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1103</Words>
  <Application>Microsoft Office PowerPoint</Application>
  <PresentationFormat>Personalizado</PresentationFormat>
  <Paragraphs>234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Lobillo</cp:lastModifiedBy>
  <cp:revision>61</cp:revision>
  <dcterms:created xsi:type="dcterms:W3CDTF">2024-06-05T16:28:05Z</dcterms:created>
  <dcterms:modified xsi:type="dcterms:W3CDTF">2026-09-11T16:22:14Z</dcterms:modified>
</cp:coreProperties>
</file>